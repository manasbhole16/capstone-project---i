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Introduce yourself and the project: 7-day capstone building a production mutual fund analytics platform covering ETL, EDA, performance metrics, risk analytics, and an interactive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problem is a lack of unified, risk-aware mutual fund analytics for both retail investors and institutional analysts. This project delivers 3 key outcomes: a validated ETL pipeline, quantified performance metrics, and actionable risk dashboards.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AMFI-aligned datasets covering the full mutual fund universe: fund metadata, daily NAV, AUM, SIP flows, investor transactions, portfolio holdings, and benchmark indices. Total volume: 87,543 rows across 4 years.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pipeline follows a classic medallion architecture: raw CSV (bronze) → cleaned SQLite (silver) → analytics + dashboard (gold). config.py ensures zero hardcoded values. run_pipeline.py orchestrates all 7 steps with --steps, --skip, and --from flags.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headline market trends: 1) SIP ATH Rs 31K Cr — 139% growth in 4 years. 2) Folio doubling — B30 city growth signals financial inclusion. 3) 2023 bull run with +14.3% avg NAV. 4) Equity funds dominate inflows; debt saw rate-cycle outflows.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Investor analytics: 26–35 cohort dominates at 41%. Female participation at 33% is below the population ratio — a clear growth lever. T30 cities lead but B30 growth is accelerating, reflecting digital financial inclusion in Tier-2/3 markets.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composite scorecard weights 3-yr return (30%), Sharpe ratio (25%), Sortino ratio (20%), alpha (15%), and max drawdown (10%). ICICI Pru Midcap tops with score 82.4 and Sharpe 1.82. Key insight: high-scoring funds also carry the most tail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 (95%) quantifies the maximum expected daily loss 19 out of 20 trading days. ABSL Small Cap is highest at -2.39%, with CVaR (expected shortfall beyond VaR) of -3.03% — fat-tail risk confirmed. The 97.8% SIP at-risk rate is the most critical business metric.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dashboard is a self-contained HTML file — no server required. Open in any modern browser. Pages cover: industry AUM and SIP trends, fund performance and scoring, investor demographics, and rolling risk metrics. PDF and PNG exports also available.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 key findings across market trends, performance, and risk. The most critical business finding is the 97.8% SIP at-risk rate — an actionable metric for Bluestock's investor retention programme.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audience-specific recommendation sets. Most impactful for Bluestock: build the SIP Continuity Alert system (addresses 97.8% at-risk rate), launch a women investor campaign (33% female participation), and accelerate B30 digital onboarding.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Summarise the 7-day project: ETL pipeline for 10 datasets, 16 charts, 6 KPI reports, risk analytics including VaR/CVaR, and an interactive 4-page dashboard. Open for questions on any phase.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58368"/>
            <a:ext cx="7772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— 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02412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Mutual Fund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31520" y="1664208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Platform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731520" y="2377440"/>
            <a:ext cx="7772400" cy="0"/>
          </a:xfrm>
          <a:prstGeom prst="line">
            <a:avLst/>
          </a:prstGeom>
          <a:noFill/>
          <a:ln w="10160">
            <a:solidFill>
              <a:srgbClr val="6E84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514600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Analytics Pipeline  ·  ETL  ·  EDA  ·  Performance  ·  Risk  ·  Dashboard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3017520"/>
            <a:ext cx="1234440" cy="658368"/>
          </a:xfrm>
          <a:prstGeom prst="roundRect">
            <a:avLst>
              <a:gd name="adj" fmla="val 8333"/>
            </a:avLst>
          </a:prstGeom>
          <a:solidFill>
            <a:srgbClr val="172A4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044952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31520" y="3355848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21408" y="3017520"/>
            <a:ext cx="1234440" cy="658368"/>
          </a:xfrm>
          <a:prstGeom prst="roundRect">
            <a:avLst>
              <a:gd name="adj" fmla="val 8333"/>
            </a:avLst>
          </a:prstGeom>
          <a:solidFill>
            <a:srgbClr val="17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2121408" y="3044952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87K+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121408" y="3355848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Rows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11296" y="3017520"/>
            <a:ext cx="1234440" cy="658368"/>
          </a:xfrm>
          <a:prstGeom prst="roundRect">
            <a:avLst>
              <a:gd name="adj" fmla="val 8333"/>
            </a:avLst>
          </a:prstGeom>
          <a:solidFill>
            <a:srgbClr val="17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3511296" y="3044952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511296" y="3355848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01184" y="3017520"/>
            <a:ext cx="1234440" cy="658368"/>
          </a:xfrm>
          <a:prstGeom prst="roundRect">
            <a:avLst>
              <a:gd name="adj" fmla="val 8333"/>
            </a:avLst>
          </a:prstGeom>
          <a:solidFill>
            <a:srgbClr val="17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4901184" y="3044952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901184" y="3355848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Reports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91072" y="3017520"/>
            <a:ext cx="1234440" cy="658368"/>
          </a:xfrm>
          <a:prstGeom prst="roundRect">
            <a:avLst>
              <a:gd name="adj" fmla="val 8333"/>
            </a:avLst>
          </a:prstGeom>
          <a:solidFill>
            <a:srgbClr val="17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6291072" y="3044952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291072" y="3355848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680960" y="3017520"/>
            <a:ext cx="1234440" cy="658368"/>
          </a:xfrm>
          <a:prstGeom prst="roundRect">
            <a:avLst>
              <a:gd name="adj" fmla="val 8333"/>
            </a:avLst>
          </a:prstGeom>
          <a:solidFill>
            <a:srgbClr val="172A4A"/>
          </a:solidFill>
          <a:ln/>
        </p:spPr>
      </p:sp>
      <p:sp>
        <p:nvSpPr>
          <p:cNvPr id="26" name="Text 24"/>
          <p:cNvSpPr/>
          <p:nvPr/>
        </p:nvSpPr>
        <p:spPr>
          <a:xfrm>
            <a:off x="7680960" y="3044952"/>
            <a:ext cx="1234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680960" y="3355848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Build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224528"/>
            <a:ext cx="9144000" cy="918972"/>
          </a:xfrm>
          <a:prstGeom prst="rect">
            <a:avLst/>
          </a:prstGeom>
          <a:solidFill>
            <a:srgbClr val="071628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43434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Manas Bhole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31520" y="46451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8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Engineering  |  Bluestock Fintech  |  June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" y="36576"/>
            <a:ext cx="8412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4905756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MF Analytics  |  Manas Bhole  |  Bluestock Fintech  |  June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0" y="490575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768096"/>
            <a:ext cx="4160520" cy="3383280"/>
          </a:xfrm>
          <a:prstGeom prst="roundRect">
            <a:avLst>
              <a:gd name="adj" fmla="val 2162"/>
            </a:avLst>
          </a:prstGeom>
          <a:solidFill>
            <a:srgbClr val="EBF1F8"/>
          </a:solidFill>
          <a:ln w="15240">
            <a:solidFill>
              <a:srgbClr val="1A5C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7782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A5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114300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investors and fund analysts lack a unified, data-driven view of mutual fund performance, investor behaviour, and risk-adjusted returns across India's AMC universe — leading to suboptimal fund selection and investor churn.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263347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5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3776" y="2907792"/>
            <a:ext cx="118872" cy="118872"/>
          </a:xfrm>
          <a:prstGeom prst="ellipse">
            <a:avLst/>
          </a:prstGeom>
          <a:solidFill>
            <a:srgbClr val="1A5CB5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" y="2862072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50+ lakh crore AUM industry with no unified analytics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3776" y="3264408"/>
            <a:ext cx="118872" cy="118872"/>
          </a:xfrm>
          <a:prstGeom prst="ellipse">
            <a:avLst/>
          </a:prstGeom>
          <a:solidFill>
            <a:srgbClr val="1A5CB5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" y="3218688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Risk-blind selection drives suboptimal investor outcomes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3776" y="3621024"/>
            <a:ext cx="118872" cy="118872"/>
          </a:xfrm>
          <a:prstGeom prst="ellipse">
            <a:avLst/>
          </a:prstGeom>
          <a:solidFill>
            <a:srgbClr val="1A5CB5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" y="3575304"/>
            <a:ext cx="3611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churn reaches 97.8% without proactive engagement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768096"/>
            <a:ext cx="4114800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0160">
            <a:solidFill>
              <a:srgbClr val="DDE6F0"/>
            </a:solidFill>
            <a:prstDash val="solid"/>
          </a:ln>
          <a:effectLst>
            <a:outerShdw sx="100000" sy="100000" kx="0" ky="0" algn="bl" rotWithShape="0" blurRad="63500" dist="38100" dir="27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877824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A5CB5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87782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48656" y="85953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&amp; SQL Pipeline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48656" y="1152144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Ingest, validate, and clean 10 AMFI datasets. Load a SQLite star schema for analytical querying.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1901952"/>
            <a:ext cx="4114800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0160">
            <a:solidFill>
              <a:srgbClr val="DDE6F0"/>
            </a:solidFill>
            <a:prstDash val="solid"/>
          </a:ln>
          <a:effectLst>
            <a:outerShdw sx="100000" sy="100000" kx="0" ky="0" algn="bl" rotWithShape="0" blurRad="63500" dist="38100" dir="270000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201168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097A7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248656" y="199339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Analytics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248656" y="2286000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CAGR, Sharpe, Sortino, Alpha, Beta, Max Drawdown, and composite Fund Scorecard.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09160" y="3035808"/>
            <a:ext cx="4114800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0160">
            <a:solidFill>
              <a:srgbClr val="DDE6F0"/>
            </a:solidFill>
            <a:prstDash val="solid"/>
          </a:ln>
          <a:effectLst>
            <a:outerShdw sx="100000" sy="100000" kx="0" ky="0" algn="bl" rotWithShape="0" blurRad="63500" dist="38100" dir="2700000">
              <a:srgbClr val="000000">
                <a:alpha val="9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00600" y="3145536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F5A623"/>
          </a:solidFill>
          <a:ln/>
        </p:spPr>
      </p:sp>
      <p:sp>
        <p:nvSpPr>
          <p:cNvPr id="30" name="Text 28"/>
          <p:cNvSpPr/>
          <p:nvPr/>
        </p:nvSpPr>
        <p:spPr>
          <a:xfrm>
            <a:off x="4800600" y="314553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248656" y="3127248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Dashboard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248656" y="3419856"/>
            <a:ext cx="3429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VaR/CVaR, Rolling Sharpe, HHI. 4-page HTML dashboard + risk-based fund recommender.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20040" y="4352544"/>
            <a:ext cx="8503920" cy="475488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34" name="Text 32"/>
          <p:cNvSpPr/>
          <p:nvPr/>
        </p:nvSpPr>
        <p:spPr>
          <a:xfrm>
            <a:off x="320040" y="4370832"/>
            <a:ext cx="16642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CSV Files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039112" y="4425696"/>
            <a:ext cx="0" cy="329184"/>
          </a:xfrm>
          <a:prstGeom prst="line">
            <a:avLst/>
          </a:prstGeom>
          <a:noFill/>
          <a:ln w="10160">
            <a:solidFill>
              <a:srgbClr val="2A4A7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039112" y="4370832"/>
            <a:ext cx="16642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87,543 Total Rows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758184" y="4425696"/>
            <a:ext cx="0" cy="329184"/>
          </a:xfrm>
          <a:prstGeom prst="line">
            <a:avLst/>
          </a:prstGeom>
          <a:noFill/>
          <a:ln w="10160">
            <a:solidFill>
              <a:srgbClr val="2A4A7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758184" y="4370832"/>
            <a:ext cx="16642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Schemes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477256" y="4425696"/>
            <a:ext cx="0" cy="329184"/>
          </a:xfrm>
          <a:prstGeom prst="line">
            <a:avLst/>
          </a:prstGeom>
          <a:noFill/>
          <a:ln w="10160">
            <a:solidFill>
              <a:srgbClr val="2A4A7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77256" y="4370832"/>
            <a:ext cx="16642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32,778 Transactions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7196328" y="4425696"/>
            <a:ext cx="0" cy="329184"/>
          </a:xfrm>
          <a:prstGeom prst="line">
            <a:avLst/>
          </a:prstGeom>
          <a:noFill/>
          <a:ln w="10160">
            <a:solidFill>
              <a:srgbClr val="2A4A7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96328" y="4370832"/>
            <a:ext cx="16642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4-Year Window (2022–2026)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" y="36576"/>
            <a:ext cx="68580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Overview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0" y="164592"/>
            <a:ext cx="1691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Datasets  ·  87,543 Rows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4905756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MF Analytics  |  Manas Bhole  |  Bluestock Fintech  |  June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03920" y="490575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92608" y="868680"/>
            <a:ext cx="8558784" cy="347472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923544"/>
            <a:ext cx="530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33272" y="923544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Name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27832" y="923544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33672" y="923544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Fields &amp; Purpose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92608" y="1216152"/>
            <a:ext cx="8558784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" y="1271016"/>
            <a:ext cx="457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14984" y="1271016"/>
            <a:ext cx="2057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Master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09544" y="1271016"/>
            <a:ext cx="868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15384" y="1271016"/>
            <a:ext cx="4572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amfi_code, fund_house, category, risk_category, expense_ratio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92608" y="1577340"/>
            <a:ext cx="8558784" cy="347472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" y="1632204"/>
            <a:ext cx="457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14984" y="1632204"/>
            <a:ext cx="2057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History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09544" y="1632204"/>
            <a:ext cx="868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46,000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15384" y="1632204"/>
            <a:ext cx="4572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amfi_code, date, nav — daily NAV for all 40 schemes, 2022–2026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92608" y="1938528"/>
            <a:ext cx="8558784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347472" y="1993392"/>
            <a:ext cx="457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14984" y="1993392"/>
            <a:ext cx="2057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 by Fund House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09544" y="1993392"/>
            <a:ext cx="868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215384" y="1993392"/>
            <a:ext cx="4572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fund_house, year, aum_cr — annual AUM per AMC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92608" y="2299716"/>
            <a:ext cx="8558784" cy="347472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30" name="Text 28"/>
          <p:cNvSpPr/>
          <p:nvPr/>
        </p:nvSpPr>
        <p:spPr>
          <a:xfrm>
            <a:off x="347472" y="2354580"/>
            <a:ext cx="457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14984" y="2354580"/>
            <a:ext cx="2057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SIP Inflows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209544" y="2354580"/>
            <a:ext cx="868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215384" y="2354580"/>
            <a:ext cx="4572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month, sip_inflow_cr — industry-level monthly SIP totals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92608" y="2660904"/>
            <a:ext cx="8558784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347472" y="2715768"/>
            <a:ext cx="457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014984" y="2715768"/>
            <a:ext cx="2057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Inflows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209544" y="2715768"/>
            <a:ext cx="868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144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215384" y="2715768"/>
            <a:ext cx="4572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month, category, net_inflow_cr — flows by fund category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92608" y="3022092"/>
            <a:ext cx="8558784" cy="347472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40" name="Text 38"/>
          <p:cNvSpPr/>
          <p:nvPr/>
        </p:nvSpPr>
        <p:spPr>
          <a:xfrm>
            <a:off x="347472" y="3076956"/>
            <a:ext cx="457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014984" y="3076956"/>
            <a:ext cx="2057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Folio Count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209544" y="3076956"/>
            <a:ext cx="868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215384" y="3076956"/>
            <a:ext cx="4572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month, folio_count_cr — total investor folios over time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92608" y="3383280"/>
            <a:ext cx="8558784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347472" y="3438144"/>
            <a:ext cx="457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1014984" y="3438144"/>
            <a:ext cx="2057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Performance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3209544" y="3438144"/>
            <a:ext cx="868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215384" y="3438144"/>
            <a:ext cx="4572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return_1/3/5yr, sharpe_ratio, expense_ratio, morningstar_rating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92608" y="3744468"/>
            <a:ext cx="8558784" cy="347472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50" name="Text 48"/>
          <p:cNvSpPr/>
          <p:nvPr/>
        </p:nvSpPr>
        <p:spPr>
          <a:xfrm>
            <a:off x="347472" y="3799332"/>
            <a:ext cx="457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1014984" y="3799332"/>
            <a:ext cx="2057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Transactions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3209544" y="3799332"/>
            <a:ext cx="868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32,778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4215384" y="3799332"/>
            <a:ext cx="4572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investor_id, type, amount, state, age_group, gender, kyc_status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92608" y="4105656"/>
            <a:ext cx="8558784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347472" y="4160520"/>
            <a:ext cx="457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1014984" y="4160520"/>
            <a:ext cx="2057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Holdings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3209544" y="4160520"/>
            <a:ext cx="868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322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4215384" y="4160520"/>
            <a:ext cx="4572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amfi_code, sector, weight_pct — sector weights per equity fund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292608" y="4466844"/>
            <a:ext cx="8558784" cy="347472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60" name="Text 58"/>
          <p:cNvSpPr/>
          <p:nvPr/>
        </p:nvSpPr>
        <p:spPr>
          <a:xfrm>
            <a:off x="347472" y="4521708"/>
            <a:ext cx="457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1014984" y="4521708"/>
            <a:ext cx="20574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Indices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3209544" y="4521708"/>
            <a:ext cx="868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8,050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4215384" y="4521708"/>
            <a:ext cx="4572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date, index_name, nav — Nifty 50, Nifty 100, and others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" y="36576"/>
            <a:ext cx="8412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Architecture &amp; Data Flow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4905756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MF Analytics  |  Manas Bhole  |  Bluestock Fintech  |  June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0" y="490575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804672"/>
            <a:ext cx="1426464" cy="1005840"/>
          </a:xfrm>
          <a:prstGeom prst="roundRect">
            <a:avLst>
              <a:gd name="adj" fmla="val 7273"/>
            </a:avLst>
          </a:prstGeom>
          <a:solidFill>
            <a:srgbClr val="1A5CB5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" y="896112"/>
            <a:ext cx="1426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" y="1078992"/>
            <a:ext cx="14264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664208" y="1307592"/>
            <a:ext cx="82296" cy="0"/>
          </a:xfrm>
          <a:prstGeom prst="line">
            <a:avLst/>
          </a:prstGeom>
          <a:noFill/>
          <a:ln w="19050">
            <a:solidFill>
              <a:srgbClr val="6E84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" y="1883664"/>
            <a:ext cx="1517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A5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data_ingestion.py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41832" y="2121408"/>
            <a:ext cx="0" cy="201168"/>
          </a:xfrm>
          <a:prstGeom prst="line">
            <a:avLst/>
          </a:prstGeom>
          <a:noFill/>
          <a:ln w="12700">
            <a:solidFill>
              <a:srgbClr val="6E84A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5176" y="2322576"/>
            <a:ext cx="1353312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DDE6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3464" y="2340864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Report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737360" y="804672"/>
            <a:ext cx="1426464" cy="1005840"/>
          </a:xfrm>
          <a:prstGeom prst="roundRect">
            <a:avLst>
              <a:gd name="adj" fmla="val 7273"/>
            </a:avLst>
          </a:prstGeom>
          <a:solidFill>
            <a:srgbClr val="0097A7"/>
          </a:solidFill>
          <a:ln/>
        </p:spPr>
      </p:sp>
      <p:sp>
        <p:nvSpPr>
          <p:cNvPr id="17" name="Text 15"/>
          <p:cNvSpPr/>
          <p:nvPr/>
        </p:nvSpPr>
        <p:spPr>
          <a:xfrm>
            <a:off x="1737360" y="896112"/>
            <a:ext cx="1426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737360" y="1078992"/>
            <a:ext cx="14264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3172968" y="1307592"/>
            <a:ext cx="82296" cy="0"/>
          </a:xfrm>
          <a:prstGeom prst="line">
            <a:avLst/>
          </a:prstGeom>
          <a:noFill/>
          <a:ln w="19050">
            <a:solidFill>
              <a:srgbClr val="6E84A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91640" y="1883664"/>
            <a:ext cx="1517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A5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data_cleaning.py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450592" y="2121408"/>
            <a:ext cx="0" cy="201168"/>
          </a:xfrm>
          <a:prstGeom prst="line">
            <a:avLst/>
          </a:prstGeom>
          <a:noFill/>
          <a:ln w="12700">
            <a:solidFill>
              <a:srgbClr val="6E84A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773936" y="2322576"/>
            <a:ext cx="1353312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DDE6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792224" y="2340864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DB + CSVs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46120" y="804672"/>
            <a:ext cx="1426464" cy="1005840"/>
          </a:xfrm>
          <a:prstGeom prst="roundRect">
            <a:avLst>
              <a:gd name="adj" fmla="val 7273"/>
            </a:avLst>
          </a:prstGeom>
          <a:solidFill>
            <a:srgbClr val="2E7D32"/>
          </a:solidFill>
          <a:ln/>
        </p:spPr>
      </p:sp>
      <p:sp>
        <p:nvSpPr>
          <p:cNvPr id="25" name="Text 23"/>
          <p:cNvSpPr/>
          <p:nvPr/>
        </p:nvSpPr>
        <p:spPr>
          <a:xfrm>
            <a:off x="3246120" y="896112"/>
            <a:ext cx="1426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46120" y="1078992"/>
            <a:ext cx="14264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4681728" y="1307592"/>
            <a:ext cx="82296" cy="0"/>
          </a:xfrm>
          <a:prstGeom prst="line">
            <a:avLst/>
          </a:prstGeom>
          <a:noFill/>
          <a:ln w="19050">
            <a:solidFill>
              <a:srgbClr val="6E84A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0" y="1883664"/>
            <a:ext cx="1517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A5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eda_analysis.py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959352" y="2121408"/>
            <a:ext cx="0" cy="201168"/>
          </a:xfrm>
          <a:prstGeom prst="line">
            <a:avLst/>
          </a:prstGeom>
          <a:noFill/>
          <a:ln w="12700">
            <a:solidFill>
              <a:srgbClr val="6E84A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82696" y="2322576"/>
            <a:ext cx="1353312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DDE6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00984" y="2340864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Charts + Report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54880" y="804672"/>
            <a:ext cx="1426464" cy="1005840"/>
          </a:xfrm>
          <a:prstGeom prst="roundRect">
            <a:avLst>
              <a:gd name="adj" fmla="val 7273"/>
            </a:avLst>
          </a:prstGeom>
          <a:solidFill>
            <a:srgbClr val="6A1B9A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896112"/>
            <a:ext cx="1426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54880" y="1078992"/>
            <a:ext cx="14264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Perform.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6190488" y="1307592"/>
            <a:ext cx="82296" cy="0"/>
          </a:xfrm>
          <a:prstGeom prst="line">
            <a:avLst/>
          </a:prstGeom>
          <a:noFill/>
          <a:ln w="19050">
            <a:solidFill>
              <a:srgbClr val="6E84A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1883664"/>
            <a:ext cx="1517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A5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performance_analytics.py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468112" y="2121408"/>
            <a:ext cx="0" cy="201168"/>
          </a:xfrm>
          <a:prstGeom prst="line">
            <a:avLst/>
          </a:prstGeom>
          <a:noFill/>
          <a:ln w="12700">
            <a:solidFill>
              <a:srgbClr val="6E84A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91456" y="2322576"/>
            <a:ext cx="1353312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DDE6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9744" y="2340864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 + Alpha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263640" y="804672"/>
            <a:ext cx="1426464" cy="1005840"/>
          </a:xfrm>
          <a:prstGeom prst="roundRect">
            <a:avLst>
              <a:gd name="adj" fmla="val 7273"/>
            </a:avLst>
          </a:prstGeom>
          <a:solidFill>
            <a:srgbClr val="E65100"/>
          </a:solidFill>
          <a:ln/>
        </p:spPr>
      </p:sp>
      <p:sp>
        <p:nvSpPr>
          <p:cNvPr id="41" name="Text 39"/>
          <p:cNvSpPr/>
          <p:nvPr/>
        </p:nvSpPr>
        <p:spPr>
          <a:xfrm>
            <a:off x="6263640" y="896112"/>
            <a:ext cx="1426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263640" y="1078992"/>
            <a:ext cx="14264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2000" dirty="0"/>
          </a:p>
        </p:txBody>
      </p:sp>
      <p:sp>
        <p:nvSpPr>
          <p:cNvPr id="43" name="Shape 41"/>
          <p:cNvSpPr/>
          <p:nvPr/>
        </p:nvSpPr>
        <p:spPr>
          <a:xfrm>
            <a:off x="7699248" y="1307592"/>
            <a:ext cx="82296" cy="0"/>
          </a:xfrm>
          <a:prstGeom prst="line">
            <a:avLst/>
          </a:prstGeom>
          <a:noFill/>
          <a:ln w="19050">
            <a:solidFill>
              <a:srgbClr val="6E84A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17920" y="1883664"/>
            <a:ext cx="1517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A5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advanced_analytics.py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976872" y="2121408"/>
            <a:ext cx="0" cy="201168"/>
          </a:xfrm>
          <a:prstGeom prst="line">
            <a:avLst/>
          </a:prstGeom>
          <a:noFill/>
          <a:ln w="12700">
            <a:solidFill>
              <a:srgbClr val="6E84A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300216" y="2322576"/>
            <a:ext cx="1353312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DDE6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18504" y="2340864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 + HHI + SIP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772400" y="804672"/>
            <a:ext cx="1426464" cy="1005840"/>
          </a:xfrm>
          <a:prstGeom prst="roundRect">
            <a:avLst>
              <a:gd name="adj" fmla="val 7273"/>
            </a:avLst>
          </a:prstGeom>
          <a:solidFill>
            <a:srgbClr val="C62828"/>
          </a:solidFill>
          <a:ln/>
        </p:spPr>
      </p:sp>
      <p:sp>
        <p:nvSpPr>
          <p:cNvPr id="49" name="Text 47"/>
          <p:cNvSpPr/>
          <p:nvPr/>
        </p:nvSpPr>
        <p:spPr>
          <a:xfrm>
            <a:off x="7772400" y="896112"/>
            <a:ext cx="14264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772400" y="1078992"/>
            <a:ext cx="14264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Dash.</a:t>
            </a: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7726680" y="1883664"/>
            <a:ext cx="1517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A5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dashboard_export.py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8485632" y="2121408"/>
            <a:ext cx="0" cy="201168"/>
          </a:xfrm>
          <a:prstGeom prst="line">
            <a:avLst/>
          </a:prstGeom>
          <a:noFill/>
          <a:ln w="12700">
            <a:solidFill>
              <a:srgbClr val="6E84A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808976" y="2322576"/>
            <a:ext cx="1353312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0160">
            <a:solidFill>
              <a:srgbClr val="DDE6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827264" y="2340864"/>
            <a:ext cx="1316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+ PDF + PNG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256032" y="3154680"/>
            <a:ext cx="863193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E8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outputs feed into bluestock_mf.db (SQLite) and reports/ directory. config.py resolves all paths dynamically.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256032" y="3547872"/>
            <a:ext cx="1609344" cy="384048"/>
          </a:xfrm>
          <a:prstGeom prst="roundRect">
            <a:avLst>
              <a:gd name="adj" fmla="val 11905"/>
            </a:avLst>
          </a:prstGeom>
          <a:solidFill>
            <a:srgbClr val="E8F0FA"/>
          </a:solidFill>
          <a:ln w="7620">
            <a:solidFill>
              <a:srgbClr val="DDE6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74320" y="356616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87,543 Rows Processed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1993392" y="3547872"/>
            <a:ext cx="1609344" cy="384048"/>
          </a:xfrm>
          <a:prstGeom prst="roundRect">
            <a:avLst>
              <a:gd name="adj" fmla="val 11905"/>
            </a:avLst>
          </a:prstGeom>
          <a:solidFill>
            <a:srgbClr val="E8F0FA"/>
          </a:solidFill>
          <a:ln w="7620">
            <a:solidFill>
              <a:srgbClr val="DDE6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011680" y="356616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Clean CSVs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3730752" y="3547872"/>
            <a:ext cx="1609344" cy="384048"/>
          </a:xfrm>
          <a:prstGeom prst="roundRect">
            <a:avLst>
              <a:gd name="adj" fmla="val 11905"/>
            </a:avLst>
          </a:prstGeom>
          <a:solidFill>
            <a:srgbClr val="E8F0FA"/>
          </a:solidFill>
          <a:ln w="7620">
            <a:solidFill>
              <a:srgbClr val="DDE6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749040" y="356616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SQLite DB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5468112" y="3547872"/>
            <a:ext cx="1609344" cy="384048"/>
          </a:xfrm>
          <a:prstGeom prst="roundRect">
            <a:avLst>
              <a:gd name="adj" fmla="val 11905"/>
            </a:avLst>
          </a:prstGeom>
          <a:solidFill>
            <a:srgbClr val="E8F0FA"/>
          </a:solidFill>
          <a:ln w="7620">
            <a:solidFill>
              <a:srgbClr val="DDE6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486400" y="356616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Charts Generated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7205472" y="3547872"/>
            <a:ext cx="1609344" cy="384048"/>
          </a:xfrm>
          <a:prstGeom prst="roundRect">
            <a:avLst>
              <a:gd name="adj" fmla="val 11905"/>
            </a:avLst>
          </a:prstGeom>
          <a:solidFill>
            <a:srgbClr val="E8F0FA"/>
          </a:solidFill>
          <a:ln w="7620">
            <a:solidFill>
              <a:srgbClr val="DDE6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223760" y="3566160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CSV Reports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256032" y="4005072"/>
            <a:ext cx="8631936" cy="493776"/>
          </a:xfrm>
          <a:prstGeom prst="roundRect">
            <a:avLst>
              <a:gd name="adj" fmla="val 12963"/>
            </a:avLst>
          </a:prstGeom>
          <a:solidFill>
            <a:srgbClr val="0D1F3C"/>
          </a:solidFill>
          <a:ln w="12700">
            <a:solidFill>
              <a:srgbClr val="0097A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11480" y="405079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run_pipeline.py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2176272" y="4050792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Single-command orchestrator running all 7 steps with structured logging, error handling, and pass/fail summary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256032" y="455371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E8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config.py = single source of truth for all paths, constants &amp; thresholds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" y="36576"/>
            <a:ext cx="8412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Highlights — Market Trends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4905756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MF Analytics  |  Manas Bhole  |  Bluestock Fintech  |  June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0" y="490575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92608" y="877824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1A5CB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91440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5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31,002 Cr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92608" y="14356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2025 ATH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2608" y="1709928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8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SIP Record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68880" y="877824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0097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91440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+97%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468880" y="14356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13.26 → 26.12 Cr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468880" y="1709928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8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Folio Count Growth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45152" y="877824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45152" y="91440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+14.3%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645152" y="14356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YoY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45152" y="1709928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8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NAV Bull Run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21424" y="877824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E651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21424" y="91440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821424" y="14356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2024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21424" y="1709928"/>
            <a:ext cx="2011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8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Correction Phase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92608" y="2121408"/>
            <a:ext cx="4279392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DE6F0"/>
            </a:solidFill>
            <a:prstDash val="solid"/>
          </a:ln>
          <a:effectLst>
            <a:outerShdw sx="100000" sy="100000" kx="0" ky="0" algn="bl" rotWithShape="0" blurRad="63500" dist="38100" dir="27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92608" y="2121408"/>
            <a:ext cx="4279392" cy="347472"/>
          </a:xfrm>
          <a:prstGeom prst="roundRect">
            <a:avLst>
              <a:gd name="adj" fmla="val 21053"/>
            </a:avLst>
          </a:prstGeom>
          <a:solidFill>
            <a:srgbClr val="1A5CB5"/>
          </a:solidFill>
          <a:ln/>
        </p:spPr>
      </p:sp>
      <p:sp>
        <p:nvSpPr>
          <p:cNvPr id="26" name="Shape 24"/>
          <p:cNvSpPr/>
          <p:nvPr/>
        </p:nvSpPr>
        <p:spPr>
          <a:xfrm>
            <a:off x="292608" y="2304288"/>
            <a:ext cx="4279392" cy="164592"/>
          </a:xfrm>
          <a:prstGeom prst="rect">
            <a:avLst/>
          </a:prstGeom>
          <a:solidFill>
            <a:srgbClr val="1A5CB5"/>
          </a:solidFill>
          <a:ln/>
        </p:spPr>
      </p:sp>
      <p:sp>
        <p:nvSpPr>
          <p:cNvPr id="27" name="Text 25"/>
          <p:cNvSpPr/>
          <p:nvPr/>
        </p:nvSpPr>
        <p:spPr>
          <a:xfrm>
            <a:off x="420624" y="215798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Inflows Hit All-Time High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2523744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SIP reached Rs 31,002 Cr in Dec 2025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2770632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139% rise over Jan 2022 (Rs 12,976 Cr)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3017520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deepening retail investor conviction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2121408"/>
            <a:ext cx="4279392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DE6F0"/>
            </a:solidFill>
            <a:prstDash val="solid"/>
          </a:ln>
          <a:effectLst>
            <a:outerShdw sx="100000" sy="100000" kx="0" ky="0" algn="bl" rotWithShape="0" blurRad="63500" dist="38100" dir="2700000">
              <a:srgbClr val="000000">
                <a:alpha val="9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2121408"/>
            <a:ext cx="4279392" cy="347472"/>
          </a:xfrm>
          <a:prstGeom prst="roundRect">
            <a:avLst>
              <a:gd name="adj" fmla="val 21053"/>
            </a:avLst>
          </a:prstGeom>
          <a:solidFill>
            <a:srgbClr val="0097A7"/>
          </a:solidFill>
          <a:ln/>
        </p:spPr>
      </p:sp>
      <p:sp>
        <p:nvSpPr>
          <p:cNvPr id="33" name="Shape 31"/>
          <p:cNvSpPr/>
          <p:nvPr/>
        </p:nvSpPr>
        <p:spPr>
          <a:xfrm>
            <a:off x="4754880" y="2304288"/>
            <a:ext cx="4279392" cy="164592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34" name="Text 32"/>
          <p:cNvSpPr/>
          <p:nvPr/>
        </p:nvSpPr>
        <p:spPr>
          <a:xfrm>
            <a:off x="4882896" y="215798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Folio Count Doubled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10912" y="2523744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Folios grew 13.26 Cr to 26.12 Cr (+97%)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10912" y="2770632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B30 cities growing faster than T30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10912" y="3017520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financial inclusion expanding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92608" y="3438144"/>
            <a:ext cx="4279392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DE6F0"/>
            </a:solidFill>
            <a:prstDash val="solid"/>
          </a:ln>
          <a:effectLst>
            <a:outerShdw sx="100000" sy="100000" kx="0" ky="0" algn="bl" rotWithShape="0" blurRad="63500" dist="38100" dir="2700000">
              <a:srgbClr val="000000">
                <a:alpha val="9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92608" y="3438144"/>
            <a:ext cx="4279392" cy="347472"/>
          </a:xfrm>
          <a:prstGeom prst="roundRect">
            <a:avLst>
              <a:gd name="adj" fmla="val 21053"/>
            </a:avLst>
          </a:prstGeom>
          <a:solidFill>
            <a:srgbClr val="2E7D32"/>
          </a:solidFill>
          <a:ln/>
        </p:spPr>
      </p:sp>
      <p:sp>
        <p:nvSpPr>
          <p:cNvPr id="40" name="Shape 38"/>
          <p:cNvSpPr/>
          <p:nvPr/>
        </p:nvSpPr>
        <p:spPr>
          <a:xfrm>
            <a:off x="292608" y="3621024"/>
            <a:ext cx="4279392" cy="16459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41" name="Text 39"/>
          <p:cNvSpPr/>
          <p:nvPr/>
        </p:nvSpPr>
        <p:spPr>
          <a:xfrm>
            <a:off x="420624" y="34747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NAV Bull Run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48640" y="3840480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NAV across 40 schemes: +14.3% YoY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48640" y="4087368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2024 correction followed the peak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48640" y="4334256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discipline mitigates timing risk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754880" y="3438144"/>
            <a:ext cx="4279392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0160">
            <a:solidFill>
              <a:srgbClr val="DDE6F0"/>
            </a:solidFill>
            <a:prstDash val="solid"/>
          </a:ln>
          <a:effectLst>
            <a:outerShdw sx="100000" sy="100000" kx="0" ky="0" algn="bl" rotWithShape="0" blurRad="63500" dist="38100" dir="2700000">
              <a:srgbClr val="000000">
                <a:alpha val="9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754880" y="3438144"/>
            <a:ext cx="4279392" cy="347472"/>
          </a:xfrm>
          <a:prstGeom prst="roundRect">
            <a:avLst>
              <a:gd name="adj" fmla="val 21053"/>
            </a:avLst>
          </a:prstGeom>
          <a:solidFill>
            <a:srgbClr val="E65100"/>
          </a:solidFill>
          <a:ln/>
        </p:spPr>
      </p:sp>
      <p:sp>
        <p:nvSpPr>
          <p:cNvPr id="47" name="Shape 45"/>
          <p:cNvSpPr/>
          <p:nvPr/>
        </p:nvSpPr>
        <p:spPr>
          <a:xfrm>
            <a:off x="4754880" y="3621024"/>
            <a:ext cx="4279392" cy="16459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48" name="Text 46"/>
          <p:cNvSpPr/>
          <p:nvPr/>
        </p:nvSpPr>
        <p:spPr>
          <a:xfrm>
            <a:off x="4882896" y="347472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&amp; Hybrid Lead Inflows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010912" y="3840480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funds dominate net inflows year-round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010912" y="4087368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saw outflows during rate-hike cycles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010912" y="4334256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heatmap shows clear seasonal patterns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" y="36576"/>
            <a:ext cx="8412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Highlights — Investor Analytics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4905756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MF Analytics  |  Manas Bhole  |  Bluestock Fintech  |  June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0" y="490575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77824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Age Distribution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20040" y="1243584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18-25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05840" y="1316736"/>
            <a:ext cx="936702" cy="256032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11" name="Shape 9"/>
          <p:cNvSpPr/>
          <p:nvPr/>
        </p:nvSpPr>
        <p:spPr>
          <a:xfrm>
            <a:off x="1942542" y="1316736"/>
            <a:ext cx="1806498" cy="256032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12" name="Text 10"/>
          <p:cNvSpPr/>
          <p:nvPr/>
        </p:nvSpPr>
        <p:spPr>
          <a:xfrm>
            <a:off x="2015694" y="124358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0040" y="1755648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26-35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05840" y="1828800"/>
            <a:ext cx="2743200" cy="256032"/>
          </a:xfrm>
          <a:prstGeom prst="rect">
            <a:avLst/>
          </a:prstGeom>
          <a:solidFill>
            <a:srgbClr val="1A5CB5"/>
          </a:solidFill>
          <a:ln/>
        </p:spPr>
      </p:sp>
      <p:sp>
        <p:nvSpPr>
          <p:cNvPr id="15" name="Shape 13"/>
          <p:cNvSpPr/>
          <p:nvPr/>
        </p:nvSpPr>
        <p:spPr>
          <a:xfrm>
            <a:off x="3749040" y="1828800"/>
            <a:ext cx="0" cy="256032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16" name="Text 14"/>
          <p:cNvSpPr/>
          <p:nvPr/>
        </p:nvSpPr>
        <p:spPr>
          <a:xfrm>
            <a:off x="3822192" y="175564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5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0040" y="2267712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36-45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05840" y="2340864"/>
            <a:ext cx="1873405" cy="256032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9" name="Shape 17"/>
          <p:cNvSpPr/>
          <p:nvPr/>
        </p:nvSpPr>
        <p:spPr>
          <a:xfrm>
            <a:off x="2879245" y="2340864"/>
            <a:ext cx="869795" cy="256032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20" name="Text 18"/>
          <p:cNvSpPr/>
          <p:nvPr/>
        </p:nvSpPr>
        <p:spPr>
          <a:xfrm>
            <a:off x="2952397" y="226771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20040" y="2779776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46-55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005840" y="2852928"/>
            <a:ext cx="735980" cy="25603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3" name="Shape 21"/>
          <p:cNvSpPr/>
          <p:nvPr/>
        </p:nvSpPr>
        <p:spPr>
          <a:xfrm>
            <a:off x="1741820" y="2852928"/>
            <a:ext cx="2007220" cy="256032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24" name="Text 22"/>
          <p:cNvSpPr/>
          <p:nvPr/>
        </p:nvSpPr>
        <p:spPr>
          <a:xfrm>
            <a:off x="1814972" y="2779776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20040" y="329184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56+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005840" y="3364992"/>
            <a:ext cx="401444" cy="256032"/>
          </a:xfrm>
          <a:prstGeom prst="rect">
            <a:avLst/>
          </a:prstGeom>
          <a:solidFill>
            <a:srgbClr val="6E84A3"/>
          </a:solidFill>
          <a:ln/>
        </p:spPr>
      </p:sp>
      <p:sp>
        <p:nvSpPr>
          <p:cNvPr id="27" name="Shape 25"/>
          <p:cNvSpPr/>
          <p:nvPr/>
        </p:nvSpPr>
        <p:spPr>
          <a:xfrm>
            <a:off x="1407284" y="3364992"/>
            <a:ext cx="2341756" cy="256032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28" name="Text 26"/>
          <p:cNvSpPr/>
          <p:nvPr/>
        </p:nvSpPr>
        <p:spPr>
          <a:xfrm>
            <a:off x="1480436" y="329184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E8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754880" y="877824"/>
            <a:ext cx="4069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Split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4800600" y="1243584"/>
            <a:ext cx="1691640" cy="1691640"/>
          </a:xfrm>
          <a:prstGeom prst="ellipse">
            <a:avLst/>
          </a:prstGeom>
          <a:solidFill>
            <a:srgbClr val="1A5CB5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148132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4800600" y="193852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D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766560" y="1243584"/>
            <a:ext cx="1691640" cy="1691640"/>
          </a:xfrm>
          <a:prstGeom prst="ellipse">
            <a:avLst/>
          </a:prstGeom>
          <a:solidFill>
            <a:srgbClr val="0097A7"/>
          </a:solidFill>
          <a:ln/>
        </p:spPr>
      </p:sp>
      <p:sp>
        <p:nvSpPr>
          <p:cNvPr id="34" name="Text 32"/>
          <p:cNvSpPr/>
          <p:nvPr/>
        </p:nvSpPr>
        <p:spPr>
          <a:xfrm>
            <a:off x="6766560" y="1481328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6766560" y="193852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8EE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92608" y="3182112"/>
            <a:ext cx="2779776" cy="160934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0160">
            <a:solidFill>
              <a:srgbClr val="DDE6F0"/>
            </a:solidFill>
            <a:prstDash val="solid"/>
          </a:ln>
          <a:effectLst>
            <a:outerShdw sx="100000" sy="100000" kx="0" ky="0" algn="bl" rotWithShape="0" blurRad="63500" dist="38100" dir="2700000">
              <a:srgbClr val="000000">
                <a:alpha val="9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29768" y="3236976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5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26–35 Age Cohort Leads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29768" y="3602736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~41% of investors are 26–35 — MFs resonate with working-age millenials saving for career milestones.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236976" y="3182112"/>
            <a:ext cx="2779776" cy="160934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0160">
            <a:solidFill>
              <a:srgbClr val="DDE6F0"/>
            </a:solidFill>
            <a:prstDash val="solid"/>
          </a:ln>
          <a:effectLst>
            <a:outerShdw sx="100000" sy="100000" kx="0" ky="0" algn="bl" rotWithShape="0" blurRad="63500" dist="38100" dir="2700000">
              <a:srgbClr val="000000">
                <a:alpha val="9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3374136" y="3236976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Gap = Growth Opportunity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3374136" y="3602736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 female participation is well below the population ratio. Targeted campaigns can significantly expand this segment.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6181344" y="3182112"/>
            <a:ext cx="2779776" cy="1609344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0160">
            <a:solidFill>
              <a:srgbClr val="DDE6F0"/>
            </a:solidFill>
            <a:prstDash val="solid"/>
          </a:ln>
          <a:effectLst>
            <a:outerShdw sx="100000" sy="100000" kx="0" ky="0" algn="bl" rotWithShape="0" blurRad="63500" dist="38100" dir="2700000">
              <a:srgbClr val="000000">
                <a:alpha val="9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318504" y="3236976"/>
            <a:ext cx="2514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T30 vs B30 City Dynamics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318504" y="3602736"/>
            <a:ext cx="2514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T30 cities contribute 66% of transactions, but B30 cities are growing faster — digital onboarding is reaching Tier-2/3 towns.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" y="36576"/>
            <a:ext cx="8412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Performance — Scorecard &amp; Scoring Weights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4905756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MF Analytics  |  Manas Bhole  |  Bluestock Fintech  |  June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0" y="490575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8961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Scoring Methodology (0–100)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92608" y="1188720"/>
            <a:ext cx="1609344" cy="658368"/>
          </a:xfrm>
          <a:prstGeom prst="roundRect">
            <a:avLst>
              <a:gd name="adj" fmla="val 8333"/>
            </a:avLst>
          </a:prstGeom>
          <a:solidFill>
            <a:srgbClr val="1A5CB5"/>
          </a:solidFill>
          <a:ln/>
        </p:spPr>
      </p:sp>
      <p:sp>
        <p:nvSpPr>
          <p:cNvPr id="10" name="Text 8"/>
          <p:cNvSpPr/>
          <p:nvPr/>
        </p:nvSpPr>
        <p:spPr>
          <a:xfrm>
            <a:off x="292608" y="1207008"/>
            <a:ext cx="1609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92608" y="1536192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3-yr Return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29968" y="1188720"/>
            <a:ext cx="1609344" cy="658368"/>
          </a:xfrm>
          <a:prstGeom prst="roundRect">
            <a:avLst>
              <a:gd name="adj" fmla="val 8333"/>
            </a:avLst>
          </a:prstGeom>
          <a:solidFill>
            <a:srgbClr val="0097A7"/>
          </a:solidFill>
          <a:ln/>
        </p:spPr>
      </p:sp>
      <p:sp>
        <p:nvSpPr>
          <p:cNvPr id="13" name="Text 11"/>
          <p:cNvSpPr/>
          <p:nvPr/>
        </p:nvSpPr>
        <p:spPr>
          <a:xfrm>
            <a:off x="2029968" y="1207008"/>
            <a:ext cx="1609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029968" y="1536192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767328" y="1188720"/>
            <a:ext cx="1609344" cy="658368"/>
          </a:xfrm>
          <a:prstGeom prst="roundRect">
            <a:avLst>
              <a:gd name="adj" fmla="val 8333"/>
            </a:avLst>
          </a:prstGeom>
          <a:solidFill>
            <a:srgbClr val="2E7D32"/>
          </a:solidFill>
          <a:ln/>
        </p:spPr>
      </p:sp>
      <p:sp>
        <p:nvSpPr>
          <p:cNvPr id="16" name="Text 14"/>
          <p:cNvSpPr/>
          <p:nvPr/>
        </p:nvSpPr>
        <p:spPr>
          <a:xfrm>
            <a:off x="3767328" y="1207008"/>
            <a:ext cx="1609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767328" y="1536192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04688" y="1188720"/>
            <a:ext cx="1609344" cy="658368"/>
          </a:xfrm>
          <a:prstGeom prst="roundRect">
            <a:avLst>
              <a:gd name="adj" fmla="val 8333"/>
            </a:avLst>
          </a:prstGeom>
          <a:solidFill>
            <a:srgbClr val="6A1B9A"/>
          </a:solidFill>
          <a:ln/>
        </p:spPr>
      </p:sp>
      <p:sp>
        <p:nvSpPr>
          <p:cNvPr id="19" name="Text 17"/>
          <p:cNvSpPr/>
          <p:nvPr/>
        </p:nvSpPr>
        <p:spPr>
          <a:xfrm>
            <a:off x="5504688" y="1207008"/>
            <a:ext cx="1609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504688" y="1536192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242048" y="1188720"/>
            <a:ext cx="1609344" cy="658368"/>
          </a:xfrm>
          <a:prstGeom prst="roundRect">
            <a:avLst>
              <a:gd name="adj" fmla="val 8333"/>
            </a:avLst>
          </a:prstGeom>
          <a:solidFill>
            <a:srgbClr val="E65100"/>
          </a:solidFill>
          <a:ln/>
        </p:spPr>
      </p:sp>
      <p:sp>
        <p:nvSpPr>
          <p:cNvPr id="22" name="Text 20"/>
          <p:cNvSpPr/>
          <p:nvPr/>
        </p:nvSpPr>
        <p:spPr>
          <a:xfrm>
            <a:off x="7242048" y="1207008"/>
            <a:ext cx="1609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242048" y="1536192"/>
            <a:ext cx="160934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" y="1920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Funds by Composite Score</a:t>
            </a:r>
            <a:endParaRPr lang="en-US" sz="2200" dirty="0"/>
          </a:p>
        </p:txBody>
      </p:sp>
      <p:sp>
        <p:nvSpPr>
          <p:cNvPr id="25" name="Shape 23"/>
          <p:cNvSpPr/>
          <p:nvPr/>
        </p:nvSpPr>
        <p:spPr>
          <a:xfrm>
            <a:off x="292608" y="2267712"/>
            <a:ext cx="8558784" cy="347472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26" name="Text 24"/>
          <p:cNvSpPr/>
          <p:nvPr/>
        </p:nvSpPr>
        <p:spPr>
          <a:xfrm>
            <a:off x="338328" y="2276856"/>
            <a:ext cx="29260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22376" y="2276856"/>
            <a:ext cx="37856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Name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99432" y="2276856"/>
            <a:ext cx="731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22392" y="2276856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153912" y="2276856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Shrpe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903720" y="2276856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3yr%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653528" y="2276856"/>
            <a:ext cx="8778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92608" y="2615184"/>
            <a:ext cx="8558784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338328" y="26517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22376" y="2651760"/>
            <a:ext cx="3785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ICICI Pru Midcap Fund - Reg - Growth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608576" y="2670048"/>
            <a:ext cx="676656" cy="256032"/>
          </a:xfrm>
          <a:prstGeom prst="roundRect">
            <a:avLst>
              <a:gd name="adj" fmla="val 21429"/>
            </a:avLst>
          </a:prstGeom>
          <a:solidFill>
            <a:srgbClr val="C62828"/>
          </a:solidFill>
          <a:ln/>
        </p:spPr>
      </p:sp>
      <p:sp>
        <p:nvSpPr>
          <p:cNvPr id="37" name="Text 35"/>
          <p:cNvSpPr/>
          <p:nvPr/>
        </p:nvSpPr>
        <p:spPr>
          <a:xfrm>
            <a:off x="4608576" y="2670048"/>
            <a:ext cx="6766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422392" y="2651760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82.4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153912" y="2651760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5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1.82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903720" y="2651760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21.3%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653528" y="2651760"/>
            <a:ext cx="8778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292608" y="2990088"/>
            <a:ext cx="8558784" cy="365760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43" name="Text 41"/>
          <p:cNvSpPr/>
          <p:nvPr/>
        </p:nvSpPr>
        <p:spPr>
          <a:xfrm>
            <a:off x="338328" y="302666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22376" y="3026664"/>
            <a:ext cx="3785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Small Cap Fund - Reg - Growth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608576" y="3044952"/>
            <a:ext cx="676656" cy="256032"/>
          </a:xfrm>
          <a:prstGeom prst="roundRect">
            <a:avLst>
              <a:gd name="adj" fmla="val 21429"/>
            </a:avLst>
          </a:prstGeom>
          <a:solidFill>
            <a:srgbClr val="C62828"/>
          </a:solidFill>
          <a:ln/>
        </p:spPr>
      </p:sp>
      <p:sp>
        <p:nvSpPr>
          <p:cNvPr id="46" name="Text 44"/>
          <p:cNvSpPr/>
          <p:nvPr/>
        </p:nvSpPr>
        <p:spPr>
          <a:xfrm>
            <a:off x="4608576" y="3044952"/>
            <a:ext cx="6766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422392" y="3026664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79.1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153912" y="3026664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5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1.67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903720" y="3026664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23.4%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7653528" y="3026664"/>
            <a:ext cx="8778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292608" y="3364992"/>
            <a:ext cx="8558784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338328" y="34015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22376" y="3401568"/>
            <a:ext cx="3785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Flexi Cap Fund - Reg - Growth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4608576" y="3419856"/>
            <a:ext cx="676656" cy="256032"/>
          </a:xfrm>
          <a:prstGeom prst="roundRect">
            <a:avLst>
              <a:gd name="adj" fmla="val 21429"/>
            </a:avLst>
          </a:prstGeom>
          <a:solidFill>
            <a:srgbClr val="C62828"/>
          </a:solidFill>
          <a:ln/>
        </p:spPr>
      </p:sp>
      <p:sp>
        <p:nvSpPr>
          <p:cNvPr id="55" name="Text 53"/>
          <p:cNvSpPr/>
          <p:nvPr/>
        </p:nvSpPr>
        <p:spPr>
          <a:xfrm>
            <a:off x="4608576" y="3419856"/>
            <a:ext cx="6766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422392" y="3401568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74.8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6153912" y="3401568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5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1.54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6903720" y="3401568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18.7%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7653528" y="3401568"/>
            <a:ext cx="8778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292608" y="3739896"/>
            <a:ext cx="8558784" cy="365760"/>
          </a:xfrm>
          <a:prstGeom prst="rect">
            <a:avLst/>
          </a:prstGeom>
          <a:solidFill>
            <a:srgbClr val="EEF3FA"/>
          </a:solidFill>
          <a:ln/>
        </p:spPr>
      </p:sp>
      <p:sp>
        <p:nvSpPr>
          <p:cNvPr id="61" name="Text 59"/>
          <p:cNvSpPr/>
          <p:nvPr/>
        </p:nvSpPr>
        <p:spPr>
          <a:xfrm>
            <a:off x="338328" y="37764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722376" y="3776472"/>
            <a:ext cx="3785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Bluechip Fund - Regular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4608576" y="3794760"/>
            <a:ext cx="676656" cy="256032"/>
          </a:xfrm>
          <a:prstGeom prst="roundRect">
            <a:avLst>
              <a:gd name="adj" fmla="val 21429"/>
            </a:avLst>
          </a:prstGeom>
          <a:solidFill>
            <a:srgbClr val="E65100"/>
          </a:solidFill>
          <a:ln/>
        </p:spPr>
      </p:sp>
      <p:sp>
        <p:nvSpPr>
          <p:cNvPr id="64" name="Text 62"/>
          <p:cNvSpPr/>
          <p:nvPr/>
        </p:nvSpPr>
        <p:spPr>
          <a:xfrm>
            <a:off x="4608576" y="3794760"/>
            <a:ext cx="6766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Mod.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5422392" y="3776472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69.3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6153912" y="3776472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5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1.41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6903720" y="3776472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16.2%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7653528" y="3776472"/>
            <a:ext cx="8778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292608" y="4114800"/>
            <a:ext cx="8558784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0" name="Text 68"/>
          <p:cNvSpPr/>
          <p:nvPr/>
        </p:nvSpPr>
        <p:spPr>
          <a:xfrm>
            <a:off x="338328" y="41513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722376" y="4151376"/>
            <a:ext cx="3785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ICICI Pru Liquid Fund - Reg - Growth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4608576" y="4169664"/>
            <a:ext cx="676656" cy="256032"/>
          </a:xfrm>
          <a:prstGeom prst="roundRect">
            <a:avLst>
              <a:gd name="adj" fmla="val 21429"/>
            </a:avLst>
          </a:prstGeom>
          <a:solidFill>
            <a:srgbClr val="2E7D32"/>
          </a:solidFill>
          <a:ln/>
        </p:spPr>
      </p:sp>
      <p:sp>
        <p:nvSpPr>
          <p:cNvPr id="73" name="Text 71"/>
          <p:cNvSpPr/>
          <p:nvPr/>
        </p:nvSpPr>
        <p:spPr>
          <a:xfrm>
            <a:off x="4608576" y="4169664"/>
            <a:ext cx="6766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5422392" y="4151376"/>
            <a:ext cx="640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61.2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6153912" y="4151376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5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</a:t>
            </a:r>
            <a:endParaRPr lang="en-US" sz="1300" dirty="0"/>
          </a:p>
        </p:txBody>
      </p:sp>
      <p:sp>
        <p:nvSpPr>
          <p:cNvPr id="76" name="Text 74"/>
          <p:cNvSpPr/>
          <p:nvPr/>
        </p:nvSpPr>
        <p:spPr>
          <a:xfrm>
            <a:off x="6903720" y="4151376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7.1%</a:t>
            </a:r>
            <a:endParaRPr lang="en-US" sz="1300" dirty="0"/>
          </a:p>
        </p:txBody>
      </p:sp>
      <p:sp>
        <p:nvSpPr>
          <p:cNvPr id="77" name="Text 75"/>
          <p:cNvSpPr/>
          <p:nvPr/>
        </p:nvSpPr>
        <p:spPr>
          <a:xfrm>
            <a:off x="7653528" y="4151376"/>
            <a:ext cx="87782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0.12</a:t>
            </a:r>
            <a:endParaRPr lang="en-US" sz="1300" dirty="0"/>
          </a:p>
        </p:txBody>
      </p:sp>
      <p:sp>
        <p:nvSpPr>
          <p:cNvPr id="78" name="Shape 76"/>
          <p:cNvSpPr/>
          <p:nvPr/>
        </p:nvSpPr>
        <p:spPr>
          <a:xfrm>
            <a:off x="292608" y="4443984"/>
            <a:ext cx="8558784" cy="384048"/>
          </a:xfrm>
          <a:prstGeom prst="roundRect">
            <a:avLst>
              <a:gd name="adj" fmla="val 14286"/>
            </a:avLst>
          </a:prstGeom>
          <a:solidFill>
            <a:srgbClr val="EBF4FF"/>
          </a:solidFill>
          <a:ln w="10160">
            <a:solidFill>
              <a:srgbClr val="1A5CB5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20624" y="4471416"/>
            <a:ext cx="1005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</a:t>
            </a:r>
            <a:endParaRPr lang="en-US" sz="1300" dirty="0"/>
          </a:p>
        </p:txBody>
      </p:sp>
      <p:sp>
        <p:nvSpPr>
          <p:cNvPr id="80" name="Text 78"/>
          <p:cNvSpPr/>
          <p:nvPr/>
        </p:nvSpPr>
        <p:spPr>
          <a:xfrm>
            <a:off x="1426464" y="4471416"/>
            <a:ext cx="7296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Mid/Small cap funds dominate the scorecard — but they also carry the highest VaR. Investors must match fund selection to both return expectations and risk tolerance.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" y="36576"/>
            <a:ext cx="8412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Analytics — VaR, CVaR &amp; Sector Concentration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4905756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MF Analytics  |  Manas Bhole  |  Bluestock Fintech  |  June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0" y="490575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20040" y="768096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VaR at 95% Confidence — 5 Funds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20040" y="1115568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ABSL Small Cap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231136" y="1207008"/>
            <a:ext cx="3200400" cy="256032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11" name="Shape 9"/>
          <p:cNvSpPr/>
          <p:nvPr/>
        </p:nvSpPr>
        <p:spPr>
          <a:xfrm>
            <a:off x="2231136" y="1207008"/>
            <a:ext cx="2524408" cy="256032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2" name="Text 10"/>
          <p:cNvSpPr/>
          <p:nvPr/>
        </p:nvSpPr>
        <p:spPr>
          <a:xfrm>
            <a:off x="4828696" y="1170432"/>
            <a:ext cx="658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-2.39%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117043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CVaR -3.03%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" y="1700784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ICICI Pru Midcap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31136" y="1792224"/>
            <a:ext cx="3200400" cy="256032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16" name="Shape 14"/>
          <p:cNvSpPr/>
          <p:nvPr/>
        </p:nvSpPr>
        <p:spPr>
          <a:xfrm>
            <a:off x="2231136" y="1792224"/>
            <a:ext cx="1806166" cy="25603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7" name="Text 15"/>
          <p:cNvSpPr/>
          <p:nvPr/>
        </p:nvSpPr>
        <p:spPr>
          <a:xfrm>
            <a:off x="4110454" y="1755648"/>
            <a:ext cx="658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-1.71%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029200" y="175564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CVaR -2.21%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" y="2286000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 Small Cap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231136" y="2377440"/>
            <a:ext cx="3200400" cy="256032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21" name="Shape 19"/>
          <p:cNvSpPr/>
          <p:nvPr/>
        </p:nvSpPr>
        <p:spPr>
          <a:xfrm>
            <a:off x="2231136" y="2377440"/>
            <a:ext cx="2091350" cy="256032"/>
          </a:xfrm>
          <a:prstGeom prst="rect">
            <a:avLst/>
          </a:prstGeom>
          <a:solidFill>
            <a:srgbClr val="B71C1C"/>
          </a:solidFill>
          <a:ln/>
        </p:spPr>
      </p:sp>
      <p:sp>
        <p:nvSpPr>
          <p:cNvPr id="22" name="Text 20"/>
          <p:cNvSpPr/>
          <p:nvPr/>
        </p:nvSpPr>
        <p:spPr>
          <a:xfrm>
            <a:off x="4395638" y="2340864"/>
            <a:ext cx="658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-1.98%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0" y="234086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CVaR -2.54%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" y="2871216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HDFC Flexi Cap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231136" y="2962656"/>
            <a:ext cx="3200400" cy="256032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26" name="Shape 24"/>
          <p:cNvSpPr/>
          <p:nvPr/>
        </p:nvSpPr>
        <p:spPr>
          <a:xfrm>
            <a:off x="2231136" y="2962656"/>
            <a:ext cx="1499857" cy="25603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7" name="Text 25"/>
          <p:cNvSpPr/>
          <p:nvPr/>
        </p:nvSpPr>
        <p:spPr>
          <a:xfrm>
            <a:off x="3804145" y="2926080"/>
            <a:ext cx="658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-1.42%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029200" y="29260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CVaR -1.88%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" y="3456432"/>
            <a:ext cx="1874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ICICI Pru Liquid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231136" y="3547872"/>
            <a:ext cx="3200400" cy="256032"/>
          </a:xfrm>
          <a:prstGeom prst="rect">
            <a:avLst/>
          </a:prstGeom>
          <a:solidFill>
            <a:srgbClr val="DDE6F0"/>
          </a:solidFill>
          <a:ln/>
        </p:spPr>
      </p:sp>
      <p:sp>
        <p:nvSpPr>
          <p:cNvPr id="31" name="Shape 29"/>
          <p:cNvSpPr/>
          <p:nvPr/>
        </p:nvSpPr>
        <p:spPr>
          <a:xfrm>
            <a:off x="2231136" y="3547872"/>
            <a:ext cx="84499" cy="25603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2" name="Text 30"/>
          <p:cNvSpPr/>
          <p:nvPr/>
        </p:nvSpPr>
        <p:spPr>
          <a:xfrm>
            <a:off x="2388787" y="3511296"/>
            <a:ext cx="6583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-0.08%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029200" y="3511296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CVaR -0.11%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08192" y="76809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Risk Insights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6144768" y="1115568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DE6F0"/>
            </a:solidFill>
            <a:prstDash val="solid"/>
          </a:ln>
          <a:effectLst>
            <a:outerShdw sx="100000" sy="100000" kx="0" ky="0" algn="bl" rotWithShape="0" blurRad="63500" dist="38100" dir="2700000">
              <a:srgbClr val="000000">
                <a:alpha val="9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44768" y="1115568"/>
            <a:ext cx="2743200" cy="310896"/>
          </a:xfrm>
          <a:prstGeom prst="roundRect">
            <a:avLst>
              <a:gd name="adj" fmla="val 17647"/>
            </a:avLst>
          </a:prstGeom>
          <a:solidFill>
            <a:srgbClr val="0097A7"/>
          </a:solidFill>
          <a:ln/>
        </p:spPr>
      </p:sp>
      <p:sp>
        <p:nvSpPr>
          <p:cNvPr id="37" name="Shape 35"/>
          <p:cNvSpPr/>
          <p:nvPr/>
        </p:nvSpPr>
        <p:spPr>
          <a:xfrm>
            <a:off x="6144768" y="1280160"/>
            <a:ext cx="2743200" cy="146304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38" name="Text 36"/>
          <p:cNvSpPr/>
          <p:nvPr/>
        </p:nvSpPr>
        <p:spPr>
          <a:xfrm>
            <a:off x="6236208" y="1152144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Sharpe Stability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236208" y="1499616"/>
            <a:ext cx="257860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ICICI Pru Midcap maintains rolling Sharpe &gt; 1.0 for 90-day windows — consistent risk-adjusted performance.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144768" y="2276856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DE6F0"/>
            </a:solidFill>
            <a:prstDash val="solid"/>
          </a:ln>
          <a:effectLst>
            <a:outerShdw sx="100000" sy="100000" kx="0" ky="0" algn="bl" rotWithShape="0" blurRad="63500" dist="38100" dir="2700000">
              <a:srgbClr val="000000">
                <a:alpha val="9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144768" y="2276856"/>
            <a:ext cx="2743200" cy="310896"/>
          </a:xfrm>
          <a:prstGeom prst="roundRect">
            <a:avLst>
              <a:gd name="adj" fmla="val 17647"/>
            </a:avLst>
          </a:prstGeom>
          <a:solidFill>
            <a:srgbClr val="F5A623"/>
          </a:solidFill>
          <a:ln/>
        </p:spPr>
      </p:sp>
      <p:sp>
        <p:nvSpPr>
          <p:cNvPr id="42" name="Shape 40"/>
          <p:cNvSpPr/>
          <p:nvPr/>
        </p:nvSpPr>
        <p:spPr>
          <a:xfrm>
            <a:off x="6144768" y="2441448"/>
            <a:ext cx="2743200" cy="14630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3" name="Text 41"/>
          <p:cNvSpPr/>
          <p:nvPr/>
        </p:nvSpPr>
        <p:spPr>
          <a:xfrm>
            <a:off x="6236208" y="2313432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Continuity Risk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236208" y="2660904"/>
            <a:ext cx="257860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97.8% of investors with 6+ SIPs have gap &gt; 35 days. Avg gap: 64.9 days. Primary churn KPI for engagement teams.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144768" y="3438144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0160">
            <a:solidFill>
              <a:srgbClr val="DDE6F0"/>
            </a:solidFill>
            <a:prstDash val="solid"/>
          </a:ln>
          <a:effectLst>
            <a:outerShdw sx="100000" sy="100000" kx="0" ky="0" algn="bl" rotWithShape="0" blurRad="63500" dist="38100" dir="2700000">
              <a:srgbClr val="000000">
                <a:alpha val="9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44768" y="3438144"/>
            <a:ext cx="2743200" cy="310896"/>
          </a:xfrm>
          <a:prstGeom prst="roundRect">
            <a:avLst>
              <a:gd name="adj" fmla="val 17647"/>
            </a:avLst>
          </a:prstGeom>
          <a:solidFill>
            <a:srgbClr val="1A5CB5"/>
          </a:solidFill>
          <a:ln/>
        </p:spPr>
      </p:sp>
      <p:sp>
        <p:nvSpPr>
          <p:cNvPr id="47" name="Shape 45"/>
          <p:cNvSpPr/>
          <p:nvPr/>
        </p:nvSpPr>
        <p:spPr>
          <a:xfrm>
            <a:off x="6144768" y="3602736"/>
            <a:ext cx="2743200" cy="146304"/>
          </a:xfrm>
          <a:prstGeom prst="rect">
            <a:avLst/>
          </a:prstGeom>
          <a:solidFill>
            <a:srgbClr val="1A5CB5"/>
          </a:solidFill>
          <a:ln/>
        </p:spPr>
      </p:sp>
      <p:sp>
        <p:nvSpPr>
          <p:cNvPr id="48" name="Text 46"/>
          <p:cNvSpPr/>
          <p:nvPr/>
        </p:nvSpPr>
        <p:spPr>
          <a:xfrm>
            <a:off x="6236208" y="3474720"/>
            <a:ext cx="25786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HHI Concentration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6236208" y="3822192"/>
            <a:ext cx="257860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Bluechip HHI = 2968 (IT 48.7%) — highly concentrated. UTI Mid Cap HHI = 1240 — most diversified.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92608" y="4425696"/>
            <a:ext cx="5687568" cy="402336"/>
          </a:xfrm>
          <a:prstGeom prst="roundRect">
            <a:avLst>
              <a:gd name="adj" fmla="val 13636"/>
            </a:avLst>
          </a:prstGeom>
          <a:solidFill>
            <a:srgbClr val="FDECEA"/>
          </a:solidFill>
          <a:ln w="10160">
            <a:solidFill>
              <a:srgbClr val="C6282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20624" y="446227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Risk: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1609344" y="4462272"/>
            <a:ext cx="4251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ABSL Small Cap — VaR -2.39%, CVaR -3.03% confirms significant tail risk. Requires prominent disclosure.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" y="36576"/>
            <a:ext cx="8412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— 4-Page HTML Export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4905756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MF Analytics  |  Manas Bhole  |  Bluestock Fintech  |  June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0" y="490575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92608" y="804672"/>
            <a:ext cx="4279392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0160">
            <a:solidFill>
              <a:srgbClr val="DDE6F0"/>
            </a:solidFill>
            <a:prstDash val="solid"/>
          </a:ln>
          <a:effectLst>
            <a:outerShdw sx="100000" sy="100000" kx="0" ky="0" algn="bl" rotWithShape="0" blurRad="63500" dist="38100" dir="27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92608" y="804672"/>
            <a:ext cx="4279392" cy="384048"/>
          </a:xfrm>
          <a:prstGeom prst="roundRect">
            <a:avLst>
              <a:gd name="adj" fmla="val 19048"/>
            </a:avLst>
          </a:prstGeom>
          <a:solidFill>
            <a:srgbClr val="1A5CB5"/>
          </a:solidFill>
          <a:ln/>
        </p:spPr>
      </p:sp>
      <p:sp>
        <p:nvSpPr>
          <p:cNvPr id="10" name="Shape 8"/>
          <p:cNvSpPr/>
          <p:nvPr/>
        </p:nvSpPr>
        <p:spPr>
          <a:xfrm>
            <a:off x="292608" y="1005840"/>
            <a:ext cx="4279392" cy="182880"/>
          </a:xfrm>
          <a:prstGeom prst="rect">
            <a:avLst/>
          </a:prstGeom>
          <a:solidFill>
            <a:srgbClr val="1A5CB5"/>
          </a:solidFill>
          <a:ln/>
        </p:spPr>
      </p:sp>
      <p:sp>
        <p:nvSpPr>
          <p:cNvPr id="11" name="Text 9"/>
          <p:cNvSpPr/>
          <p:nvPr/>
        </p:nvSpPr>
        <p:spPr>
          <a:xfrm>
            <a:off x="420624" y="841248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— Industry Overview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1280160"/>
            <a:ext cx="100584" cy="100584"/>
          </a:xfrm>
          <a:prstGeom prst="ellipse">
            <a:avLst/>
          </a:prstGeom>
          <a:solidFill>
            <a:srgbClr val="1A5CB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" y="1234440"/>
            <a:ext cx="38221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AUM by fund house, year-on-year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1673352"/>
            <a:ext cx="100584" cy="100584"/>
          </a:xfrm>
          <a:prstGeom prst="ellipse">
            <a:avLst/>
          </a:prstGeom>
          <a:solidFill>
            <a:srgbClr val="1A5CB5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" y="1627632"/>
            <a:ext cx="38221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SIP inflow bar chart with ATH annotation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066544"/>
            <a:ext cx="100584" cy="100584"/>
          </a:xfrm>
          <a:prstGeom prst="ellipse">
            <a:avLst/>
          </a:prstGeom>
          <a:solidFill>
            <a:srgbClr val="1A5CB5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" y="2020824"/>
            <a:ext cx="38221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folio count growth (13.26 → 26.12 Cr)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804672"/>
            <a:ext cx="4279392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0160">
            <a:solidFill>
              <a:srgbClr val="DDE6F0"/>
            </a:solidFill>
            <a:prstDash val="solid"/>
          </a:ln>
          <a:effectLst>
            <a:outerShdw sx="100000" sy="100000" kx="0" ky="0" algn="bl" rotWithShape="0" blurRad="63500" dist="38100" dir="27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804672"/>
            <a:ext cx="4279392" cy="384048"/>
          </a:xfrm>
          <a:prstGeom prst="roundRect">
            <a:avLst>
              <a:gd name="adj" fmla="val 19048"/>
            </a:avLst>
          </a:prstGeom>
          <a:solidFill>
            <a:srgbClr val="0097A7"/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0" y="1005840"/>
            <a:ext cx="4279392" cy="18288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21" name="Text 19"/>
          <p:cNvSpPr/>
          <p:nvPr/>
        </p:nvSpPr>
        <p:spPr>
          <a:xfrm>
            <a:off x="4882896" y="841248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— Fund Performance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919472" y="1280160"/>
            <a:ext cx="100584" cy="100584"/>
          </a:xfrm>
          <a:prstGeom prst="ellipse">
            <a:avLst/>
          </a:prstGeom>
          <a:solidFill>
            <a:srgbClr val="0097A7"/>
          </a:solidFill>
          <a:ln/>
        </p:spPr>
      </p:sp>
      <p:sp>
        <p:nvSpPr>
          <p:cNvPr id="23" name="Text 21"/>
          <p:cNvSpPr/>
          <p:nvPr/>
        </p:nvSpPr>
        <p:spPr>
          <a:xfrm>
            <a:off x="5084064" y="1234440"/>
            <a:ext cx="38221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trend lines for all 40 schemes (2022–2026)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919472" y="1673352"/>
            <a:ext cx="100584" cy="100584"/>
          </a:xfrm>
          <a:prstGeom prst="ellipse">
            <a:avLst/>
          </a:prstGeom>
          <a:solidFill>
            <a:srgbClr val="0097A7"/>
          </a:solidFill>
          <a:ln/>
        </p:spPr>
      </p:sp>
      <p:sp>
        <p:nvSpPr>
          <p:cNvPr id="25" name="Text 23"/>
          <p:cNvSpPr/>
          <p:nvPr/>
        </p:nvSpPr>
        <p:spPr>
          <a:xfrm>
            <a:off x="5084064" y="1627632"/>
            <a:ext cx="38221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Scorecard ranking (composite 0–100 score)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919472" y="2066544"/>
            <a:ext cx="100584" cy="100584"/>
          </a:xfrm>
          <a:prstGeom prst="ellipse">
            <a:avLst/>
          </a:prstGeom>
          <a:solidFill>
            <a:srgbClr val="0097A7"/>
          </a:solidFill>
          <a:ln/>
        </p:spPr>
      </p:sp>
      <p:sp>
        <p:nvSpPr>
          <p:cNvPr id="27" name="Text 25"/>
          <p:cNvSpPr/>
          <p:nvPr/>
        </p:nvSpPr>
        <p:spPr>
          <a:xfrm>
            <a:off x="5084064" y="2020824"/>
            <a:ext cx="38221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comparison: Top 5 vs Nifty 50 / Nifty 100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92608" y="2670048"/>
            <a:ext cx="4279392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0160">
            <a:solidFill>
              <a:srgbClr val="DDE6F0"/>
            </a:solidFill>
            <a:prstDash val="solid"/>
          </a:ln>
          <a:effectLst>
            <a:outerShdw sx="100000" sy="100000" kx="0" ky="0" algn="bl" rotWithShape="0" blurRad="63500" dist="38100" dir="2700000">
              <a:srgbClr val="000000">
                <a:alpha val="9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92608" y="2670048"/>
            <a:ext cx="4279392" cy="384048"/>
          </a:xfrm>
          <a:prstGeom prst="roundRect">
            <a:avLst>
              <a:gd name="adj" fmla="val 19048"/>
            </a:avLst>
          </a:prstGeom>
          <a:solidFill>
            <a:srgbClr val="2E7D32"/>
          </a:solidFill>
          <a:ln/>
        </p:spPr>
      </p:sp>
      <p:sp>
        <p:nvSpPr>
          <p:cNvPr id="30" name="Shape 28"/>
          <p:cNvSpPr/>
          <p:nvPr/>
        </p:nvSpPr>
        <p:spPr>
          <a:xfrm>
            <a:off x="292608" y="2871216"/>
            <a:ext cx="4279392" cy="1828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1" name="Text 29"/>
          <p:cNvSpPr/>
          <p:nvPr/>
        </p:nvSpPr>
        <p:spPr>
          <a:xfrm>
            <a:off x="420624" y="2706624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— Investor Analytics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57200" y="3145536"/>
            <a:ext cx="100584" cy="100584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3" name="Text 31"/>
          <p:cNvSpPr/>
          <p:nvPr/>
        </p:nvSpPr>
        <p:spPr>
          <a:xfrm>
            <a:off x="621792" y="3099816"/>
            <a:ext cx="38221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 distribution &amp; gender split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57200" y="3538728"/>
            <a:ext cx="100584" cy="100584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5" name="Text 33"/>
          <p:cNvSpPr/>
          <p:nvPr/>
        </p:nvSpPr>
        <p:spPr>
          <a:xfrm>
            <a:off x="621792" y="3493008"/>
            <a:ext cx="38221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SIP map — Top 15 states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57200" y="3931920"/>
            <a:ext cx="100584" cy="100584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37" name="Text 35"/>
          <p:cNvSpPr/>
          <p:nvPr/>
        </p:nvSpPr>
        <p:spPr>
          <a:xfrm>
            <a:off x="621792" y="3886200"/>
            <a:ext cx="38221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T30 vs B30 city tier transaction analysis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754880" y="2670048"/>
            <a:ext cx="4279392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0160">
            <a:solidFill>
              <a:srgbClr val="DDE6F0"/>
            </a:solidFill>
            <a:prstDash val="solid"/>
          </a:ln>
          <a:effectLst>
            <a:outerShdw sx="100000" sy="100000" kx="0" ky="0" algn="bl" rotWithShape="0" blurRad="63500" dist="38100" dir="2700000">
              <a:srgbClr val="000000">
                <a:alpha val="9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54880" y="2670048"/>
            <a:ext cx="4279392" cy="384048"/>
          </a:xfrm>
          <a:prstGeom prst="roundRect">
            <a:avLst>
              <a:gd name="adj" fmla="val 19048"/>
            </a:avLst>
          </a:prstGeom>
          <a:solidFill>
            <a:srgbClr val="6A1B9A"/>
          </a:solidFill>
          <a:ln/>
        </p:spPr>
      </p:sp>
      <p:sp>
        <p:nvSpPr>
          <p:cNvPr id="40" name="Shape 38"/>
          <p:cNvSpPr/>
          <p:nvPr/>
        </p:nvSpPr>
        <p:spPr>
          <a:xfrm>
            <a:off x="4754880" y="2871216"/>
            <a:ext cx="4279392" cy="18288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41" name="Text 39"/>
          <p:cNvSpPr/>
          <p:nvPr/>
        </p:nvSpPr>
        <p:spPr>
          <a:xfrm>
            <a:off x="4882896" y="2706624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 — SIP &amp; Risk Trends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919472" y="3145536"/>
            <a:ext cx="100584" cy="100584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43" name="Text 41"/>
          <p:cNvSpPr/>
          <p:nvPr/>
        </p:nvSpPr>
        <p:spPr>
          <a:xfrm>
            <a:off x="5084064" y="3099816"/>
            <a:ext cx="38221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90-day Sharpe for top 5 funds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919472" y="3538728"/>
            <a:ext cx="100584" cy="100584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45" name="Text 43"/>
          <p:cNvSpPr/>
          <p:nvPr/>
        </p:nvSpPr>
        <p:spPr>
          <a:xfrm>
            <a:off x="5084064" y="3493008"/>
            <a:ext cx="38221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VaR/CVaR summary table across all schemes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4919472" y="3931920"/>
            <a:ext cx="100584" cy="100584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47" name="Text 45"/>
          <p:cNvSpPr/>
          <p:nvPr/>
        </p:nvSpPr>
        <p:spPr>
          <a:xfrm>
            <a:off x="5084064" y="3886200"/>
            <a:ext cx="38221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inflow heatmap (months × categories)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292608" y="4425696"/>
            <a:ext cx="8558784" cy="384048"/>
          </a:xfrm>
          <a:prstGeom prst="roundRect">
            <a:avLst>
              <a:gd name="adj" fmla="val 14286"/>
            </a:avLst>
          </a:prstGeom>
          <a:solidFill>
            <a:srgbClr val="0D1F3C"/>
          </a:solidFill>
          <a:ln/>
        </p:spPr>
      </p:sp>
      <p:sp>
        <p:nvSpPr>
          <p:cNvPr id="49" name="Text 47"/>
          <p:cNvSpPr/>
          <p:nvPr/>
        </p:nvSpPr>
        <p:spPr>
          <a:xfrm>
            <a:off x="420624" y="4453128"/>
            <a:ext cx="777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1188720" y="4453128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dashboard/bluestock_mf_dashboard.html   ·   Dashboard/Dashboard.pdf   ·   4 × PNG page exports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" y="36576"/>
            <a:ext cx="8412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4905756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MF Analytics  |  Manas Bhole  |  Bluestock Fintech  |  June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0" y="490575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786384"/>
            <a:ext cx="2798064" cy="184708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10160">
            <a:solidFill>
              <a:srgbClr val="DDE6F0"/>
            </a:solidFill>
            <a:prstDash val="solid"/>
          </a:ln>
          <a:effectLst>
            <a:outerShdw sx="100000" sy="100000" kx="0" ky="0" algn="bl" rotWithShape="0" blurRad="63500" dist="38100" dir="27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93192" y="9144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1A5CB5"/>
          </a:solidFill>
          <a:ln/>
        </p:spPr>
      </p:sp>
      <p:sp>
        <p:nvSpPr>
          <p:cNvPr id="10" name="Text 8"/>
          <p:cNvSpPr/>
          <p:nvPr/>
        </p:nvSpPr>
        <p:spPr>
          <a:xfrm>
            <a:off x="393192" y="914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93268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Acceleration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93192" y="1353312"/>
            <a:ext cx="2542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5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31,002 Cr ATH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3192" y="1664208"/>
            <a:ext cx="2542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2025 monthly SIP — 139% growth vs Jan 2022. Retail investor conviction at a 4-year record high.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18688" y="786384"/>
            <a:ext cx="2798064" cy="184708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10160">
            <a:solidFill>
              <a:srgbClr val="DDE6F0"/>
            </a:solidFill>
            <a:prstDash val="solid"/>
          </a:ln>
          <a:effectLst>
            <a:outerShdw sx="100000" sy="100000" kx="0" ky="0" algn="bl" rotWithShape="0" blurRad="63500" dist="38100" dir="27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355848" y="9144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0097A7"/>
          </a:solidFill>
          <a:ln/>
        </p:spPr>
      </p:sp>
      <p:sp>
        <p:nvSpPr>
          <p:cNvPr id="16" name="Text 14"/>
          <p:cNvSpPr/>
          <p:nvPr/>
        </p:nvSpPr>
        <p:spPr>
          <a:xfrm>
            <a:off x="3355848" y="914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785616" y="93268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Folio Count Doubled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355848" y="1353312"/>
            <a:ext cx="2542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+97% Growth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55848" y="1664208"/>
            <a:ext cx="2542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13.26 Cr to 26.12 Cr folios. B30 cities growing faster than T30 — geographic financial inclusion accelerating.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81344" y="786384"/>
            <a:ext cx="2798064" cy="184708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10160">
            <a:solidFill>
              <a:srgbClr val="DDE6F0"/>
            </a:solidFill>
            <a:prstDash val="solid"/>
          </a:ln>
          <a:effectLst>
            <a:outerShdw sx="100000" sy="100000" kx="0" ky="0" algn="bl" rotWithShape="0" blurRad="63500" dist="38100" dir="270000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18504" y="914400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2E7D32"/>
          </a:solidFill>
          <a:ln/>
        </p:spPr>
      </p:sp>
      <p:sp>
        <p:nvSpPr>
          <p:cNvPr id="22" name="Text 20"/>
          <p:cNvSpPr/>
          <p:nvPr/>
        </p:nvSpPr>
        <p:spPr>
          <a:xfrm>
            <a:off x="6318504" y="914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48272" y="932688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Mid/Small Cap Lead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18504" y="1353312"/>
            <a:ext cx="2542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82.4 | Sharpe 1.82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18504" y="1664208"/>
            <a:ext cx="2542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ICICI Pru Midcap tops the composite scorecard. High return but VaR of -2.39% demands clear investor disclosures.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56032" y="2743200"/>
            <a:ext cx="2798064" cy="184708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10160">
            <a:solidFill>
              <a:srgbClr val="DDE6F0"/>
            </a:solidFill>
            <a:prstDash val="solid"/>
          </a:ln>
          <a:effectLst>
            <a:outerShdw sx="100000" sy="100000" kx="0" ky="0" algn="bl" rotWithShape="0" blurRad="63500" dist="38100" dir="2700000">
              <a:srgbClr val="000000">
                <a:alpha val="9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93192" y="2871216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C62828"/>
          </a:solidFill>
          <a:ln/>
        </p:spPr>
      </p:sp>
      <p:sp>
        <p:nvSpPr>
          <p:cNvPr id="28" name="Text 26"/>
          <p:cNvSpPr/>
          <p:nvPr/>
        </p:nvSpPr>
        <p:spPr>
          <a:xfrm>
            <a:off x="393192" y="28712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22960" y="2889504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Churn Risk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393192" y="3310128"/>
            <a:ext cx="2542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97.8% At-Risk Rate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93192" y="3621024"/>
            <a:ext cx="2542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investors with 6+ SIPs, 97.8% have gaps &gt;35 days. Avg gap: 64.9 days. Top priority for retention teams.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18688" y="2743200"/>
            <a:ext cx="2798064" cy="184708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10160">
            <a:solidFill>
              <a:srgbClr val="DDE6F0"/>
            </a:solidFill>
            <a:prstDash val="solid"/>
          </a:ln>
          <a:effectLst>
            <a:outerShdw sx="100000" sy="100000" kx="0" ky="0" algn="bl" rotWithShape="0" blurRad="63500" dist="38100" dir="2700000">
              <a:srgbClr val="000000">
                <a:alpha val="9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355848" y="2871216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6A1B9A"/>
          </a:solidFill>
          <a:ln/>
        </p:spPr>
      </p:sp>
      <p:sp>
        <p:nvSpPr>
          <p:cNvPr id="34" name="Text 32"/>
          <p:cNvSpPr/>
          <p:nvPr/>
        </p:nvSpPr>
        <p:spPr>
          <a:xfrm>
            <a:off x="3355848" y="28712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785616" y="2889504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Concentration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355848" y="3310128"/>
            <a:ext cx="2542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HHI 2968 (IT 48.7%)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355848" y="3621024"/>
            <a:ext cx="2542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 Bluechip is highly concentrated in IT. UTI Mid Cap (HHI 1240) is the most diversified equity fund.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81344" y="2743200"/>
            <a:ext cx="2798064" cy="1847088"/>
          </a:xfrm>
          <a:prstGeom prst="roundRect">
            <a:avLst>
              <a:gd name="adj" fmla="val 3960"/>
            </a:avLst>
          </a:prstGeom>
          <a:solidFill>
            <a:srgbClr val="FFFFFF"/>
          </a:solidFill>
          <a:ln w="10160">
            <a:solidFill>
              <a:srgbClr val="DDE6F0"/>
            </a:solidFill>
            <a:prstDash val="solid"/>
          </a:ln>
          <a:effectLst>
            <a:outerShdw sx="100000" sy="100000" kx="0" ky="0" algn="bl" rotWithShape="0" blurRad="63500" dist="38100" dir="2700000">
              <a:srgbClr val="000000">
                <a:alpha val="9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318504" y="2871216"/>
            <a:ext cx="365760" cy="365760"/>
          </a:xfrm>
          <a:prstGeom prst="roundRect">
            <a:avLst>
              <a:gd name="adj" fmla="val 15000"/>
            </a:avLst>
          </a:prstGeom>
          <a:solidFill>
            <a:srgbClr val="E65100"/>
          </a:solidFill>
          <a:ln/>
        </p:spPr>
      </p:sp>
      <p:sp>
        <p:nvSpPr>
          <p:cNvPr id="40" name="Text 38"/>
          <p:cNvSpPr/>
          <p:nvPr/>
        </p:nvSpPr>
        <p:spPr>
          <a:xfrm>
            <a:off x="6318504" y="28712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748272" y="2889504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Plan Advantage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318504" y="3310128"/>
            <a:ext cx="2542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0.57% / yr Saving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318504" y="3621024"/>
            <a:ext cx="2542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plans save 0.57% in expense ratio annually — equivalent to Rs 80K extra on Rs 10L over 10 years.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4" name="Text 2"/>
          <p:cNvSpPr/>
          <p:nvPr/>
        </p:nvSpPr>
        <p:spPr>
          <a:xfrm>
            <a:off x="384048" y="36576"/>
            <a:ext cx="841248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4905756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MF Analytics  |  Manas Bhole  |  Bluestock Fintech  |  June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503920" y="4905756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877824"/>
            <a:ext cx="2798064" cy="475488"/>
          </a:xfrm>
          <a:prstGeom prst="roundRect">
            <a:avLst>
              <a:gd name="adj" fmla="val 15385"/>
            </a:avLst>
          </a:prstGeom>
          <a:solidFill>
            <a:srgbClr val="1A5CB5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886968"/>
            <a:ext cx="25786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Investors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56032" y="1481328"/>
            <a:ext cx="2798064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0160">
            <a:solidFill>
              <a:srgbClr val="DDE6F0"/>
            </a:solidFill>
            <a:prstDash val="solid"/>
          </a:ln>
          <a:effectLst>
            <a:outerShdw sx="100000" sy="100000" kx="0" ky="0" algn="bl" rotWithShape="0" blurRad="63500" dist="38100" dir="2700000">
              <a:srgbClr val="000000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93192" y="1572768"/>
            <a:ext cx="2542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5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Direct Plans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93192" y="1883664"/>
            <a:ext cx="2542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0.57% annual saving = Rs 80K extra on Rs 10L over 10 years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56032" y="2633472"/>
            <a:ext cx="2798064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0160">
            <a:solidFill>
              <a:srgbClr val="DDE6F0"/>
            </a:solidFill>
            <a:prstDash val="solid"/>
          </a:ln>
          <a:effectLst>
            <a:outerShdw sx="100000" sy="100000" kx="0" ky="0" algn="bl" rotWithShape="0" blurRad="63500" dist="38100" dir="2700000">
              <a:srgbClr val="000000">
                <a:alpha val="9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93192" y="2724912"/>
            <a:ext cx="2542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5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Diversify by Category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93192" y="3035808"/>
            <a:ext cx="2542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Large-cap correlations &gt;0.85 — add mid-cap or hybrid funds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56032" y="3785616"/>
            <a:ext cx="2798064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0160">
            <a:solidFill>
              <a:srgbClr val="DDE6F0"/>
            </a:solidFill>
            <a:prstDash val="solid"/>
          </a:ln>
          <a:effectLst>
            <a:outerShdw sx="100000" sy="100000" kx="0" ky="0" algn="bl" rotWithShape="0" blurRad="63500" dist="38100" dir="2700000">
              <a:srgbClr val="000000">
                <a:alpha val="9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93192" y="3877056"/>
            <a:ext cx="2542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5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SIP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93192" y="4187952"/>
            <a:ext cx="2542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auto-debit to avoid the 97.8% at-risk gap pattern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18688" y="877824"/>
            <a:ext cx="2798064" cy="475488"/>
          </a:xfrm>
          <a:prstGeom prst="roundRect">
            <a:avLst>
              <a:gd name="adj" fmla="val 15385"/>
            </a:avLst>
          </a:prstGeom>
          <a:solidFill>
            <a:srgbClr val="0097A7"/>
          </a:solidFill>
          <a:ln/>
        </p:spPr>
      </p:sp>
      <p:sp>
        <p:nvSpPr>
          <p:cNvPr id="20" name="Text 18"/>
          <p:cNvSpPr/>
          <p:nvPr/>
        </p:nvSpPr>
        <p:spPr>
          <a:xfrm>
            <a:off x="3328416" y="886968"/>
            <a:ext cx="25786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Fund Analysts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218688" y="1481328"/>
            <a:ext cx="2798064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0160">
            <a:solidFill>
              <a:srgbClr val="DDE6F0"/>
            </a:solidFill>
            <a:prstDash val="solid"/>
          </a:ln>
          <a:effectLst>
            <a:outerShdw sx="100000" sy="100000" kx="0" ky="0" algn="bl" rotWithShape="0" blurRad="63500" dist="38100" dir="2700000">
              <a:srgbClr val="000000">
                <a:alpha val="9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355848" y="1572768"/>
            <a:ext cx="2542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Rolling Sharpe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355848" y="1883664"/>
            <a:ext cx="2542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90-day rolling Sharpe in monthly fund review reports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18688" y="2633472"/>
            <a:ext cx="2798064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0160">
            <a:solidFill>
              <a:srgbClr val="DDE6F0"/>
            </a:solidFill>
            <a:prstDash val="solid"/>
          </a:ln>
          <a:effectLst>
            <a:outerShdw sx="100000" sy="100000" kx="0" ky="0" algn="bl" rotWithShape="0" blurRad="63500" dist="38100" dir="2700000">
              <a:srgbClr val="000000">
                <a:alpha val="9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355848" y="2724912"/>
            <a:ext cx="2542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Disclose VaR Clearly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355848" y="3035808"/>
            <a:ext cx="2542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Prominent VaR disclosure for small/mid-cap fund communications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218688" y="3785616"/>
            <a:ext cx="2798064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0160">
            <a:solidFill>
              <a:srgbClr val="DDE6F0"/>
            </a:solidFill>
            <a:prstDash val="solid"/>
          </a:ln>
          <a:effectLst>
            <a:outerShdw sx="100000" sy="100000" kx="0" ky="0" algn="bl" rotWithShape="0" blurRad="63500" dist="38100" dir="2700000">
              <a:srgbClr val="000000">
                <a:alpha val="9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355848" y="3877056"/>
            <a:ext cx="2542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97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HHI Alerts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355848" y="4187952"/>
            <a:ext cx="2542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internal alerts when sector HHI exceeds 2,500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181344" y="877824"/>
            <a:ext cx="2798064" cy="475488"/>
          </a:xfrm>
          <a:prstGeom prst="roundRect">
            <a:avLst>
              <a:gd name="adj" fmla="val 15385"/>
            </a:avLst>
          </a:prstGeom>
          <a:solidFill>
            <a:srgbClr val="2E7D32"/>
          </a:solidFill>
          <a:ln/>
        </p:spPr>
      </p:sp>
      <p:sp>
        <p:nvSpPr>
          <p:cNvPr id="31" name="Text 29"/>
          <p:cNvSpPr/>
          <p:nvPr/>
        </p:nvSpPr>
        <p:spPr>
          <a:xfrm>
            <a:off x="6291072" y="886968"/>
            <a:ext cx="257860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Bluestock Fintech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81344" y="1481328"/>
            <a:ext cx="2798064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0160">
            <a:solidFill>
              <a:srgbClr val="DDE6F0"/>
            </a:solidFill>
            <a:prstDash val="solid"/>
          </a:ln>
          <a:effectLst>
            <a:outerShdw sx="100000" sy="100000" kx="0" ky="0" algn="bl" rotWithShape="0" blurRad="63500" dist="38100" dir="2700000">
              <a:srgbClr val="000000">
                <a:alpha val="9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318504" y="1572768"/>
            <a:ext cx="2542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SIP Alert System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318504" y="1883664"/>
            <a:ext cx="2542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Productise the at-risk flag from advanced_analytics.py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181344" y="2633472"/>
            <a:ext cx="2798064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0160">
            <a:solidFill>
              <a:srgbClr val="DDE6F0"/>
            </a:solidFill>
            <a:prstDash val="solid"/>
          </a:ln>
          <a:effectLst>
            <a:outerShdw sx="100000" sy="100000" kx="0" ky="0" algn="bl" rotWithShape="0" blurRad="63500" dist="38100" dir="2700000">
              <a:srgbClr val="000000">
                <a:alpha val="9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318504" y="2724912"/>
            <a:ext cx="2542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Investor Campaign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18504" y="3035808"/>
            <a:ext cx="2542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33% female segment — significant growth headroom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181344" y="3785616"/>
            <a:ext cx="2798064" cy="104241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0160">
            <a:solidFill>
              <a:srgbClr val="DDE6F0"/>
            </a:solidFill>
            <a:prstDash val="solid"/>
          </a:ln>
          <a:effectLst>
            <a:outerShdw sx="100000" sy="100000" kx="0" ky="0" algn="bl" rotWithShape="0" blurRad="63500" dist="38100" dir="2700000">
              <a:srgbClr val="000000">
                <a:alpha val="9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318504" y="3877056"/>
            <a:ext cx="25420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B30 Onboarding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318504" y="4187952"/>
            <a:ext cx="2542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B30 growth rate exceeds T30; prioritise digital acquisition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097A7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640080"/>
            <a:ext cx="77724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7772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2029968"/>
            <a:ext cx="7772400" cy="0"/>
          </a:xfrm>
          <a:prstGeom prst="line">
            <a:avLst/>
          </a:prstGeom>
          <a:noFill/>
          <a:ln w="10160">
            <a:solidFill>
              <a:srgbClr val="6E84A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212848"/>
            <a:ext cx="1261872" cy="987552"/>
          </a:xfrm>
          <a:prstGeom prst="roundRect">
            <a:avLst>
              <a:gd name="adj" fmla="val 7407"/>
            </a:avLst>
          </a:prstGeom>
          <a:solidFill>
            <a:srgbClr val="172A4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267712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2724912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Schemes Analysed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21408" y="2212848"/>
            <a:ext cx="1261872" cy="987552"/>
          </a:xfrm>
          <a:prstGeom prst="roundRect">
            <a:avLst>
              <a:gd name="adj" fmla="val 7407"/>
            </a:avLst>
          </a:prstGeom>
          <a:solidFill>
            <a:srgbClr val="17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2121408" y="2267712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87K+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121408" y="2724912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Rows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511296" y="2212848"/>
            <a:ext cx="1261872" cy="987552"/>
          </a:xfrm>
          <a:prstGeom prst="roundRect">
            <a:avLst>
              <a:gd name="adj" fmla="val 7407"/>
            </a:avLst>
          </a:prstGeom>
          <a:solidFill>
            <a:srgbClr val="17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3511296" y="2267712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511296" y="2724912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Datasets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01184" y="2212848"/>
            <a:ext cx="1261872" cy="987552"/>
          </a:xfrm>
          <a:prstGeom prst="roundRect">
            <a:avLst>
              <a:gd name="adj" fmla="val 7407"/>
            </a:avLst>
          </a:prstGeom>
          <a:solidFill>
            <a:srgbClr val="17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4901184" y="2267712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901184" y="2724912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 Generated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91072" y="2212848"/>
            <a:ext cx="1261872" cy="987552"/>
          </a:xfrm>
          <a:prstGeom prst="roundRect">
            <a:avLst>
              <a:gd name="adj" fmla="val 7407"/>
            </a:avLst>
          </a:prstGeom>
          <a:solidFill>
            <a:srgbClr val="17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6291072" y="2267712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291072" y="2724912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Reports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680960" y="2212848"/>
            <a:ext cx="1261872" cy="987552"/>
          </a:xfrm>
          <a:prstGeom prst="roundRect">
            <a:avLst>
              <a:gd name="adj" fmla="val 7407"/>
            </a:avLst>
          </a:prstGeom>
          <a:solidFill>
            <a:srgbClr val="172A4A"/>
          </a:solidFill>
          <a:ln/>
        </p:spPr>
      </p:sp>
      <p:sp>
        <p:nvSpPr>
          <p:cNvPr id="24" name="Text 22"/>
          <p:cNvSpPr/>
          <p:nvPr/>
        </p:nvSpPr>
        <p:spPr>
          <a:xfrm>
            <a:off x="7680960" y="2267712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680960" y="2724912"/>
            <a:ext cx="126187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31520" y="33832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8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Stack: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31520" y="3712464"/>
            <a:ext cx="1261872" cy="292608"/>
          </a:xfrm>
          <a:prstGeom prst="roundRect">
            <a:avLst>
              <a:gd name="adj" fmla="val 15625"/>
            </a:avLst>
          </a:prstGeom>
          <a:solidFill>
            <a:srgbClr val="0D2A4A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3721608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121408" y="3712464"/>
            <a:ext cx="1261872" cy="292608"/>
          </a:xfrm>
          <a:prstGeom prst="roundRect">
            <a:avLst>
              <a:gd name="adj" fmla="val 15625"/>
            </a:avLst>
          </a:prstGeom>
          <a:solidFill>
            <a:srgbClr val="0D2A4A"/>
          </a:solidFill>
          <a:ln/>
        </p:spPr>
      </p:sp>
      <p:sp>
        <p:nvSpPr>
          <p:cNvPr id="30" name="Text 28"/>
          <p:cNvSpPr/>
          <p:nvPr/>
        </p:nvSpPr>
        <p:spPr>
          <a:xfrm>
            <a:off x="2121408" y="3721608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511296" y="3712464"/>
            <a:ext cx="1261872" cy="292608"/>
          </a:xfrm>
          <a:prstGeom prst="roundRect">
            <a:avLst>
              <a:gd name="adj" fmla="val 15625"/>
            </a:avLst>
          </a:prstGeom>
          <a:solidFill>
            <a:srgbClr val="0D2A4A"/>
          </a:solidFill>
          <a:ln/>
        </p:spPr>
      </p:sp>
      <p:sp>
        <p:nvSpPr>
          <p:cNvPr id="32" name="Text 30"/>
          <p:cNvSpPr/>
          <p:nvPr/>
        </p:nvSpPr>
        <p:spPr>
          <a:xfrm>
            <a:off x="3511296" y="3721608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SQL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901184" y="3712464"/>
            <a:ext cx="1261872" cy="292608"/>
          </a:xfrm>
          <a:prstGeom prst="roundRect">
            <a:avLst>
              <a:gd name="adj" fmla="val 15625"/>
            </a:avLst>
          </a:prstGeom>
          <a:solidFill>
            <a:srgbClr val="0D2A4A"/>
          </a:solidFill>
          <a:ln/>
        </p:spPr>
      </p:sp>
      <p:sp>
        <p:nvSpPr>
          <p:cNvPr id="34" name="Text 32"/>
          <p:cNvSpPr/>
          <p:nvPr/>
        </p:nvSpPr>
        <p:spPr>
          <a:xfrm>
            <a:off x="4901184" y="3721608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/ seaborn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91072" y="3712464"/>
            <a:ext cx="1261872" cy="292608"/>
          </a:xfrm>
          <a:prstGeom prst="roundRect">
            <a:avLst>
              <a:gd name="adj" fmla="val 15625"/>
            </a:avLst>
          </a:prstGeom>
          <a:solidFill>
            <a:srgbClr val="0D2A4A"/>
          </a:solidFill>
          <a:ln/>
        </p:spPr>
      </p:sp>
      <p:sp>
        <p:nvSpPr>
          <p:cNvPr id="36" name="Text 34"/>
          <p:cNvSpPr/>
          <p:nvPr/>
        </p:nvSpPr>
        <p:spPr>
          <a:xfrm>
            <a:off x="6291072" y="3721608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scipy / statsmodels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680960" y="3712464"/>
            <a:ext cx="1261872" cy="292608"/>
          </a:xfrm>
          <a:prstGeom prst="roundRect">
            <a:avLst>
              <a:gd name="adj" fmla="val 15625"/>
            </a:avLst>
          </a:prstGeom>
          <a:solidFill>
            <a:srgbClr val="0D2A4A"/>
          </a:solidFill>
          <a:ln/>
        </p:spPr>
      </p:sp>
      <p:sp>
        <p:nvSpPr>
          <p:cNvPr id="38" name="Text 36"/>
          <p:cNvSpPr/>
          <p:nvPr/>
        </p:nvSpPr>
        <p:spPr>
          <a:xfrm>
            <a:off x="7680960" y="3721608"/>
            <a:ext cx="1261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Dashboard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0" y="4704588"/>
            <a:ext cx="9144000" cy="438912"/>
          </a:xfrm>
          <a:prstGeom prst="rect">
            <a:avLst/>
          </a:prstGeom>
          <a:solidFill>
            <a:srgbClr val="071628"/>
          </a:solidFill>
          <a:ln/>
        </p:spPr>
      </p:sp>
      <p:sp>
        <p:nvSpPr>
          <p:cNvPr id="40" name="Text 38"/>
          <p:cNvSpPr/>
          <p:nvPr/>
        </p:nvSpPr>
        <p:spPr>
          <a:xfrm>
            <a:off x="731520" y="4750308"/>
            <a:ext cx="7772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E8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Manas Bhole   ·   Bluestock Fintech   ·   June 2026   ·   Capstone Project - 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Bluestock Fintech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Bluestock Mutual Fund Analytics — Capstone Project I</dc:title>
  <dc:subject>PptxGenJS Presentation</dc:subject>
  <dc:creator>Manas Bhole</dc:creator>
  <cp:lastModifiedBy>Manas Bhole</cp:lastModifiedBy>
  <cp:revision>1</cp:revision>
  <dcterms:created xsi:type="dcterms:W3CDTF">2026-06-12T08:48:04Z</dcterms:created>
  <dcterms:modified xsi:type="dcterms:W3CDTF">2026-06-12T08:48:04Z</dcterms:modified>
</cp:coreProperties>
</file>